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40c2bc60cf4f02" /><Relationship Type="http://schemas.openxmlformats.org/officeDocument/2006/relationships/extended-properties" Target="/docProps/app.xml" Id="R86a6a4ad4d404ef2" /><Relationship Type="http://schemas.openxmlformats.org/officeDocument/2006/relationships/officeDocument" Target="/ppt/presentation.xml" Id="Rf46eeaf72b834a29" /></Relationships>
</file>

<file path=ppt/presentation.xml><?xml version="1.0" encoding="utf-8"?>
<p:presentation xmlns:p="http://schemas.openxmlformats.org/presentationml/2006/main">
  <p:sldMasterIdLst>
    <p:sldMasterId xmlns:r="http://schemas.openxmlformats.org/officeDocument/2006/relationships" id="2147483648" r:id="R2363eac264cb401b"/>
  </p:sldMasterIdLst>
  <p:notesMasterIdLst>
    <p:notesMasterId xmlns:r="http://schemas.openxmlformats.org/officeDocument/2006/relationships" r:id="R7643df548106467a"/>
  </p:notesMasterIdLst>
  <p:sldIdLst>
    <p:sldId xmlns:r="http://schemas.openxmlformats.org/officeDocument/2006/relationships" id="256" r:id="Ra20402aa5d4e4c87"/>
    <p:sldId xmlns:r="http://schemas.openxmlformats.org/officeDocument/2006/relationships" id="257" r:id="R725f94c7745946bf"/>
    <p:sldId xmlns:r="http://schemas.openxmlformats.org/officeDocument/2006/relationships" id="258" r:id="R21f834c1af88465e"/>
    <p:sldId xmlns:r="http://schemas.openxmlformats.org/officeDocument/2006/relationships" id="259" r:id="R45153bb460244624"/>
    <p:sldId xmlns:r="http://schemas.openxmlformats.org/officeDocument/2006/relationships" id="260" r:id="R10d965e016c14eac"/>
    <p:sldId xmlns:r="http://schemas.openxmlformats.org/officeDocument/2006/relationships" id="261" r:id="R37cfd0bb21734a2b"/>
    <p:sldId xmlns:r="http://schemas.openxmlformats.org/officeDocument/2006/relationships" id="262" r:id="R0b956dbde0514143"/>
    <p:sldId xmlns:r="http://schemas.openxmlformats.org/officeDocument/2006/relationships" id="263" r:id="R32204145199d47cc"/>
    <p:sldId xmlns:r="http://schemas.openxmlformats.org/officeDocument/2006/relationships" id="264" r:id="Rdbf998484a324484"/>
    <p:sldId xmlns:r="http://schemas.openxmlformats.org/officeDocument/2006/relationships" id="265" r:id="R030fe45df84d40eb"/>
    <p:sldId xmlns:r="http://schemas.openxmlformats.org/officeDocument/2006/relationships" id="266" r:id="Rf4513b17abe546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33e43e65494803" /><Relationship Type="http://schemas.openxmlformats.org/officeDocument/2006/relationships/slideMaster" Target="/ppt/slideMasters/slideMaster1.xml" Id="R2363eac264cb401b" /><Relationship Type="http://schemas.openxmlformats.org/officeDocument/2006/relationships/notesMaster" Target="/ppt/notesMasters/notesMaster1.xml" Id="R7643df548106467a" /><Relationship Type="http://schemas.openxmlformats.org/officeDocument/2006/relationships/presProps" Target="/ppt/presProps.xml" Id="Rf84ac880246f4945" /><Relationship Type="http://schemas.openxmlformats.org/officeDocument/2006/relationships/tableStyles" Target="/ppt/tableStyles.xml" Id="R6096e1782ef74a35" /><Relationship Type="http://schemas.openxmlformats.org/officeDocument/2006/relationships/slide" Target="/ppt/slides/slide1.xml" Id="Ra20402aa5d4e4c87" /><Relationship Type="http://schemas.openxmlformats.org/officeDocument/2006/relationships/slide" Target="/ppt/slides/slide2.xml" Id="R725f94c7745946bf" /><Relationship Type="http://schemas.openxmlformats.org/officeDocument/2006/relationships/slide" Target="/ppt/slides/slide3.xml" Id="R21f834c1af88465e" /><Relationship Type="http://schemas.openxmlformats.org/officeDocument/2006/relationships/slide" Target="/ppt/slides/slide4.xml" Id="R45153bb460244624" /><Relationship Type="http://schemas.openxmlformats.org/officeDocument/2006/relationships/slide" Target="/ppt/slides/slide5.xml" Id="R10d965e016c14eac" /><Relationship Type="http://schemas.openxmlformats.org/officeDocument/2006/relationships/slide" Target="/ppt/slides/slide6.xml" Id="R37cfd0bb21734a2b" /><Relationship Type="http://schemas.openxmlformats.org/officeDocument/2006/relationships/slide" Target="/ppt/slides/slide7.xml" Id="R0b956dbde0514143" /><Relationship Type="http://schemas.openxmlformats.org/officeDocument/2006/relationships/slide" Target="/ppt/slides/slide8.xml" Id="R32204145199d47cc" /><Relationship Type="http://schemas.openxmlformats.org/officeDocument/2006/relationships/slide" Target="/ppt/slides/slide9.xml" Id="Rdbf998484a324484" /><Relationship Type="http://schemas.openxmlformats.org/officeDocument/2006/relationships/slide" Target="/ppt/slides/slide10.xml" Id="R030fe45df84d40eb" /><Relationship Type="http://schemas.openxmlformats.org/officeDocument/2006/relationships/slide" Target="/ppt/slides/slide11.xml" Id="Rf4513b17abe546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47fecd0ffa45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a746ab6e5048b5" /><Relationship Type="http://schemas.openxmlformats.org/officeDocument/2006/relationships/notesMaster" Target="/ppt/notesMasters/notesMaster1.xml" Id="Rab3c428d5de04f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f9d4f452b249c8" /><Relationship Type="http://schemas.openxmlformats.org/officeDocument/2006/relationships/notesMaster" Target="/ppt/notesMasters/notesMaster1.xml" Id="Rc14761acef6640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3b06af8ab54d54" /><Relationship Type="http://schemas.openxmlformats.org/officeDocument/2006/relationships/notesMaster" Target="/ppt/notesMasters/notesMaster1.xml" Id="Rd4ee03f3ca3d41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f66549e9854972" /><Relationship Type="http://schemas.openxmlformats.org/officeDocument/2006/relationships/notesMaster" Target="/ppt/notesMasters/notesMaster1.xml" Id="Rbd046c6d364c48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ef4bc3dde740c0" /><Relationship Type="http://schemas.openxmlformats.org/officeDocument/2006/relationships/notesMaster" Target="/ppt/notesMasters/notesMaster1.xml" Id="Rfd562b2da42248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8a88ca21224bc1" /><Relationship Type="http://schemas.openxmlformats.org/officeDocument/2006/relationships/notesMaster" Target="/ppt/notesMasters/notesMaster1.xml" Id="Ra5ecfa83fb9041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886f6133264bc7" /><Relationship Type="http://schemas.openxmlformats.org/officeDocument/2006/relationships/notesMaster" Target="/ppt/notesMasters/notesMaster1.xml" Id="Ra3f081a994a944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2558ff36ce40fa" /><Relationship Type="http://schemas.openxmlformats.org/officeDocument/2006/relationships/notesMaster" Target="/ppt/notesMasters/notesMaster1.xml" Id="R015114915cfb46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98fd08fd56455a" /><Relationship Type="http://schemas.openxmlformats.org/officeDocument/2006/relationships/notesMaster" Target="/ppt/notesMasters/notesMaster1.xml" Id="Rd4e08c1a4e9d46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a5bea0e8dd4cf5" /><Relationship Type="http://schemas.openxmlformats.org/officeDocument/2006/relationships/notesMaster" Target="/ppt/notesMasters/notesMaster1.xml" Id="Rf3e93e1e666e46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26b20959aa48b3" /><Relationship Type="http://schemas.openxmlformats.org/officeDocument/2006/relationships/notesMaster" Target="/ppt/notesMasters/notesMaster1.xml" Id="R28754cb0ce0746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Salih Eren Yuzbasioglu. In this presentation, I will discuss a 2025 survey titled A Survey on Data-Centric AI: Tabular Learning from Reinforcement Learning and Generative AI Perspective, by Wangyang Ying and colleagues.</a:t>
            </a:r>
          </a:p>
          <a:p xmlns:a="http://schemas.openxmlformats.org/drawingml/2006/main">
            <a:r>
              <a:t/>
            </a:r>
          </a:p>
          <a:p xmlns:a="http://schemas.openxmlformats.org/drawingml/2006/main">
            <a:r>
              <a:t>The main question is simple: before making a machine-learning model more complicated, can we improve the features that it receives?</a:t>
            </a:r>
          </a:p>
          <a:p xmlns:a="http://schemas.openxmlformats.org/drawingml/2006/main">
            <a:r>
              <a:t/>
            </a:r>
          </a:p>
          <a:p xmlns:a="http://schemas.openxmlformats.org/drawingml/2006/main">
            <a:r>
              <a:t>The paper focuses on tabular data, meaning datasets organized into rows and columns. It reviews reinforcement learning and generative approaches for deciding which features to keep and which new features to create.</a:t>
            </a:r>
          </a:p>
          <a:p xmlns:a="http://schemas.openxmlformats.org/drawingml/2006/main">
            <a:r>
              <a:t/>
            </a:r>
          </a:p>
          <a:p xmlns:a="http://schemas.openxmlformats.org/drawingml/2006/main">
            <a:r>
              <a:t>This is a survey, so I will explain the families of methods and their tradeoffs. I am not presenting a new algorithm or claiming that I reproduced the experiments of the papers it references.</a:t>
            </a:r>
          </a:p>
          <a:p xmlns:a="http://schemas.openxmlformats.org/drawingml/2006/main">
            <a:r>
              <a:t/>
            </a:r>
          </a:p>
          <a:p xmlns:a="http://schemas.openxmlformats.org/drawingml/2006/main">
            <a:r>
              <a:t>Ying et al. (2025), arXiv:2502.08828v2. https://arxiv.org/abs/2502.08828v2</a:t>
            </a:r>
          </a:p>
          <a:p xmlns:a="http://schemas.openxmlformats.org/drawingml/2006/main">
            <a:r>
              <a:t>Paper: A Survey on Data-Centric AI: Tabular Learning from Reinforcement Learning and Generative AI Perspective. arXiv survey; conference acceptance is not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introduction motivates a data-centric perspective. We can work on the model, but we can also work on the representation of the information that goes into it.</a:t>
            </a:r>
          </a:p>
          <a:p xmlns:a="http://schemas.openxmlformats.org/drawingml/2006/main">
            <a:r>
              <a:t/>
            </a:r>
          </a:p>
          <a:p xmlns:a="http://schemas.openxmlformats.org/drawingml/2006/main">
            <a:r>
              <a:t>For an example, imagine predicting whether a customer will leave a subscription service. We might have total spending, account age, recent visits, and a customer identifier.</a:t>
            </a:r>
          </a:p>
          <a:p xmlns:a="http://schemas.openxmlformats.org/drawingml/2006/main">
            <a:r>
              <a:t/>
            </a:r>
          </a:p>
          <a:p xmlns:a="http://schemas.openxmlformats.org/drawingml/2006/main">
            <a:r>
              <a:t>Some columns may be redundant or unhelpful for future customers. Others might become more useful when combined. Total spending divided by account age could describe spending per month. That may be easier for a model to use than the two raw values alone.</a:t>
            </a:r>
          </a:p>
          <a:p xmlns:a="http://schemas.openxmlformats.org/drawingml/2006/main">
            <a:r>
              <a:t/>
            </a:r>
          </a:p>
          <a:p xmlns:a="http://schemas.openxmlformats.org/drawingml/2006/main">
            <a:r>
              <a:t>This is my explanatory example, not a dataset used in a new experiment in this survey. It illustrates why feature engineering matters. We are changing the representation, and we still need to validate whether that change actually helps.</a:t>
            </a:r>
          </a:p>
          <a:p xmlns:a="http://schemas.openxmlformats.org/drawingml/2006/main">
            <a:r>
              <a:t/>
            </a:r>
          </a:p>
          <a:p xmlns:a="http://schemas.openxmlformats.org/drawingml/2006/main">
            <a:r>
              <a:t>SOURCE: Ying et al. (2025), arXiv:2502.08828v2. https://arxiv.org/abs/2502.08828v2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gives us a map of the paper. The first distinction is between feature selection and feature generation. Each of those is then divided into reinforcement-learning and generative approaches.</a:t>
            </a:r>
          </a:p>
          <a:p xmlns:a="http://schemas.openxmlformats.org/drawingml/2006/main">
            <a:r>
              <a:t/>
            </a:r>
          </a:p>
          <a:p xmlns:a="http://schemas.openxmlformats.org/drawingml/2006/main">
            <a:r>
              <a:t>Feature selection means choosing from columns that already exist. Feature generation means constructing additional features by transforming or combining existing information.</a:t>
            </a:r>
          </a:p>
          <a:p xmlns:a="http://schemas.openxmlformats.org/drawingml/2006/main">
            <a:r>
              <a:t/>
            </a:r>
          </a:p>
          <a:p xmlns:a="http://schemas.openxmlformats.org/drawingml/2006/main">
            <a:r>
              <a:t>In the customer example, removing an unhelpful identifier is selection. Creating spending per month is generation. We could also generate several candidate features and then select only the useful ones.</a:t>
            </a:r>
          </a:p>
          <a:p xmlns:a="http://schemas.openxmlformats.org/drawingml/2006/main">
            <a:r>
              <a:t/>
            </a:r>
          </a:p>
          <a:p xmlns:a="http://schemas.openxmlformats.org/drawingml/2006/main">
            <a:r>
              <a:t>The formula in Section 2 illustrates transformations such as ratios and differences. The important idea is the change in representation, rather than the mathematical notation itself.</a:t>
            </a:r>
          </a:p>
          <a:p xmlns:a="http://schemas.openxmlformats.org/drawingml/2006/main">
            <a:r>
              <a:t/>
            </a:r>
          </a:p>
          <a:p xmlns:a="http://schemas.openxmlformats.org/drawingml/2006/main">
            <a:r>
              <a:t>There are practical limits. Dividing by account age needs a rule for new accounts with zero age. A feature can be mathematically valid but still be meaningless for the application. These details explain why automated feature engineering still benefits from domain knowledge.</a:t>
            </a:r>
          </a:p>
          <a:p xmlns:a="http://schemas.openxmlformats.org/drawingml/2006/main">
            <a:r>
              <a:t/>
            </a:r>
          </a:p>
          <a:p xmlns:a="http://schemas.openxmlformats.org/drawingml/2006/main">
            <a:r>
              <a:t>SOURCE: Ying et al. (2025), arXiv:2502.08828v2. https://arxiv.org/abs/2502.08828v2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reach reinforcement learning. In this setting, the agent is not playing a game. It is making decisions about features.</a:t>
            </a:r>
          </a:p>
          <a:p xmlns:a="http://schemas.openxmlformats.org/drawingml/2006/main">
            <a:r>
              <a:t/>
            </a:r>
          </a:p>
          <a:p xmlns:a="http://schemas.openxmlformats.org/drawingml/2006/main">
            <a:r>
              <a:t>We can understand the process using state, action, and reward. The state describes the current feature situation. The action changes which features are selected. The reward gives feedback about how useful the resulting selection is.</a:t>
            </a:r>
          </a:p>
          <a:p xmlns:a="http://schemas.openxmlformats.org/drawingml/2006/main">
            <a:r>
              <a:t/>
            </a:r>
          </a:p>
          <a:p xmlns:a="http://schemas.openxmlformats.org/drawingml/2006/main">
            <a:r>
              <a:t>For example, the system might evaluate a candidate feature subset using validation performance. An application could also penalize unnecessary complexity or expensive features. That is an illustrative design choice, not a claim that every reviewed method uses the same reward.</a:t>
            </a:r>
          </a:p>
          <a:p xmlns:a="http://schemas.openxmlformats.org/drawingml/2006/main">
            <a:r>
              <a:t/>
            </a:r>
          </a:p>
          <a:p xmlns:a="http://schemas.openxmlformats.org/drawingml/2006/main">
            <a:r>
              <a:t>Section 3.1 organizes methods into multi-agent, single-agent, and hybrid approaches. In some multi-agent methods, agents are associated with individual features. Other approaches group similar features or use one agent to organize the decisions.</a:t>
            </a:r>
          </a:p>
          <a:p xmlns:a="http://schemas.openxmlformats.org/drawingml/2006/main">
            <a:r>
              <a:t/>
            </a:r>
          </a:p>
          <a:p xmlns:a="http://schemas.openxmlformats.org/drawingml/2006/main">
            <a:r>
              <a:t>Look at Figure 2(a): the feature set leads to decisions about selection, then reward feedback updates the process. The benefit is learning where to search. The challenge is that evaluating many subsets can require substantial computation.</a:t>
            </a:r>
          </a:p>
          <a:p xmlns:a="http://schemas.openxmlformats.org/drawingml/2006/main">
            <a:r>
              <a:t/>
            </a:r>
          </a:p>
          <a:p xmlns:a="http://schemas.openxmlformats.org/drawingml/2006/main">
            <a:r>
              <a:t>SOURCE: Ying et al. (2025), arXiv:2502.08828v2. https://arxiv.org/abs/2502.08828v2</a:t>
            </a:r>
          </a:p>
          <a:p xmlns:a="http://schemas.openxmlformats.org/drawingml/2006/main">
            <a:r>
              <a:t>Figure credit: Wangyang Ying et al. (2025), Figure 2(a). Cropped. 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generation adds another type of choice. The system must decide how to transform features, not just whether to keep them.</a:t>
            </a:r>
          </a:p>
          <a:p xmlns:a="http://schemas.openxmlformats.org/drawingml/2006/main">
            <a:r>
              <a:t/>
            </a:r>
          </a:p>
          <a:p xmlns:a="http://schemas.openxmlformats.org/drawingml/2006/main">
            <a:r>
              <a:t>The paper describes a cascaded framework with three agents: two choose features and one chooses an operator. In our customer example, the choices might be total spending, account age, and division.</a:t>
            </a:r>
          </a:p>
          <a:p xmlns:a="http://schemas.openxmlformats.org/drawingml/2006/main">
            <a:r>
              <a:t/>
            </a:r>
          </a:p>
          <a:p xmlns:a="http://schemas.openxmlformats.org/drawingml/2006/main">
            <a:r>
              <a:t>Figure 2(b) shows why the operation set matters. After constructing a candidate feature, the system evaluates the updated representation and uses the feedback to guide later decisions.</a:t>
            </a:r>
          </a:p>
          <a:p xmlns:a="http://schemas.openxmlformats.org/drawingml/2006/main">
            <a:r>
              <a:t/>
            </a:r>
          </a:p>
          <a:p xmlns:a="http://schemas.openxmlformats.org/drawingml/2006/main">
            <a:r>
              <a:t>The section also reviews graph-based exploration and hybrid methods. These can represent relationships between features or reuse information about previous transformations.</a:t>
            </a:r>
          </a:p>
          <a:p xmlns:a="http://schemas.openxmlformats.org/drawingml/2006/main">
            <a:r>
              <a:t/>
            </a:r>
          </a:p>
          <a:p xmlns:a="http://schemas.openxmlformats.org/drawingml/2006/main">
            <a:r>
              <a:t>The search space grows quickly because a generated feature can become an input to another transformation. That makes constraints useful. For example, a practical system might limit expression depth or reject invalid operations. Those are engineering decisions I would consider when applying the general idea.</a:t>
            </a:r>
          </a:p>
          <a:p xmlns:a="http://schemas.openxmlformats.org/drawingml/2006/main">
            <a:r>
              <a:t/>
            </a:r>
          </a:p>
          <a:p xmlns:a="http://schemas.openxmlformats.org/drawingml/2006/main">
            <a:r>
              <a:t>SOURCE: Ying et al. (2025), arXiv:2502.08828v2. https://arxiv.org/abs/2502.08828v2</a:t>
            </a:r>
          </a:p>
          <a:p xmlns:a="http://schemas.openxmlformats.org/drawingml/2006/main">
            <a:r>
              <a:t>Figure credit: Wangyang Ying et al. (2025), Figure 2(b). Cropped. CC BY 4.0. The spending example is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generative approach changes how the system searches. Instead of considering only separate discrete candidates, it learns a continuous representation of feature-engineering experience.</a:t>
            </a:r>
          </a:p>
          <a:p xmlns:a="http://schemas.openxmlformats.org/drawingml/2006/main">
            <a:r>
              <a:t/>
            </a:r>
          </a:p>
          <a:p xmlns:a="http://schemas.openxmlformats.org/drawingml/2006/main">
            <a:r>
              <a:t>Figure 3 is the key diagram. First, an encoder maps observed feature selections or transformations into an embedding space. An evaluator estimates how useful a candidate representation might be. A decoder turns a representation back into a concrete feature choice or sequence.</a:t>
            </a:r>
          </a:p>
          <a:p xmlns:a="http://schemas.openxmlformats.org/drawingml/2006/main">
            <a:r>
              <a:t/>
            </a:r>
          </a:p>
          <a:p xmlns:a="http://schemas.openxmlformats.org/drawingml/2006/main">
            <a:r>
              <a:t>The intuition is that previous attempts contain reusable information. A learned representation might help the system propose better candidates without exploring every possible combination separately.</a:t>
            </a:r>
          </a:p>
          <a:p xmlns:a="http://schemas.openxmlformats.org/drawingml/2006/main">
            <a:r>
              <a:t/>
            </a:r>
          </a:p>
          <a:p xmlns:a="http://schemas.openxmlformats.org/drawingml/2006/main">
            <a:r>
              <a:t>Section 4.1 reviews an encoder–decoder–evaluator approach that uses reinforcement learning to collect selection experiences. It also discusses sequential generation using a transformer-based variational autoencoder.</a:t>
            </a:r>
          </a:p>
          <a:p xmlns:a="http://schemas.openxmlformats.org/drawingml/2006/main">
            <a:r>
              <a:t/>
            </a:r>
          </a:p>
          <a:p xmlns:a="http://schemas.openxmlformats.org/drawingml/2006/main">
            <a:r>
              <a:t>An important distinction is that the evaluator predicts utility. It does not prove utility. A candidate that looks promising in the learned space still needs to be checked with the actual downstream task. Otherwise the search might exploit errors in its own evaluator.</a:t>
            </a:r>
          </a:p>
          <a:p xmlns:a="http://schemas.openxmlformats.org/drawingml/2006/main">
            <a:r>
              <a:t/>
            </a:r>
          </a:p>
          <a:p xmlns:a="http://schemas.openxmlformats.org/drawingml/2006/main">
            <a:r>
              <a:t>SOURCE: Ying et al. (2025), arXiv:2502.08828v2. https://arxiv.org/abs/2502.08828v2</a:t>
            </a:r>
          </a:p>
          <a:p xmlns:a="http://schemas.openxmlformats.org/drawingml/2006/main">
            <a:r>
              <a:t>Figure credit: Wangyang Ying et al. (2025), Figure 3. Cropped. 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4.2 applies related ideas to generating transformations. The paper describes an embedding, optimization, and generation process.</a:t>
            </a:r>
          </a:p>
          <a:p xmlns:a="http://schemas.openxmlformats.org/drawingml/2006/main">
            <a:r>
              <a:t/>
            </a:r>
          </a:p>
          <a:p xmlns:a="http://schemas.openxmlformats.org/drawingml/2006/main">
            <a:r>
              <a:t>One direction uses reinforcement learning to gather useful examples of transformations, then uses a learned space to propose new ones. Another direction uses graph-based objectives when labels or repeated downstream evaluations are unavailable.</a:t>
            </a:r>
          </a:p>
          <a:p xmlns:a="http://schemas.openxmlformats.org/drawingml/2006/main">
            <a:r>
              <a:t/>
            </a:r>
          </a:p>
          <a:p xmlns:a="http://schemas.openxmlformats.org/drawingml/2006/main">
            <a:r>
              <a:t>The section also discusses large language models. These can suggest feature transformations and refine suggestions using feedback. But a plausible suggestion is not automatically a useful feature.</a:t>
            </a:r>
          </a:p>
          <a:p xmlns:a="http://schemas.openxmlformats.org/drawingml/2006/main">
            <a:r>
              <a:t/>
            </a:r>
          </a:p>
          <a:p xmlns:a="http://schemas.openxmlformats.org/drawingml/2006/main">
            <a:r>
              <a:t>For example, an LLM might suggest spending per month because it recognizes the meaning of the column names. We would still have to check the formula, handle missing values, and verify that all required inputs are available at prediction time.</a:t>
            </a:r>
          </a:p>
          <a:p xmlns:a="http://schemas.openxmlformats.org/drawingml/2006/main">
            <a:r>
              <a:t/>
            </a:r>
          </a:p>
          <a:p xmlns:a="http://schemas.openxmlformats.org/drawingml/2006/main">
            <a:r>
              <a:t>In this paper, generative feature engineering should not be confused with simply generating more rows of training data. The focus is on proposing features and feature-engineering decisions.</a:t>
            </a:r>
          </a:p>
          <a:p xmlns:a="http://schemas.openxmlformats.org/drawingml/2006/main">
            <a:r>
              <a:t/>
            </a:r>
          </a:p>
          <a:p xmlns:a="http://schemas.openxmlformats.org/drawingml/2006/main">
            <a:r>
              <a:t>SOURCE: Ying et al. (2025), arXiv:2502.08828v2. https://arxiv.org/abs/2502.08828v2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5 compares performance, interpretability, adaptability, and automation.</a:t>
            </a:r>
          </a:p>
          <a:p xmlns:a="http://schemas.openxmlformats.org/drawingml/2006/main">
            <a:r>
              <a:t/>
            </a:r>
          </a:p>
          <a:p xmlns:a="http://schemas.openxmlformats.org/drawingml/2006/main">
            <a:r>
              <a:t>RL can connect its decisions to feedback from the downstream task, but its search may be expensive and its behavior depends on the reward. Generative methods can organize search through a learned representation, but they depend on the quality of their experience data and learned models.</a:t>
            </a:r>
          </a:p>
          <a:p xmlns:a="http://schemas.openxmlformats.org/drawingml/2006/main">
            <a:r>
              <a:t/>
            </a:r>
          </a:p>
          <a:p xmlns:a="http://schemas.openxmlformats.org/drawingml/2006/main">
            <a:r>
              <a:t>I would read these as qualitative tradeoffs. They are not universal guarantees that one family is faster, more accurate, or easier to understand.</a:t>
            </a:r>
          </a:p>
          <a:p xmlns:a="http://schemas.openxmlformats.org/drawingml/2006/main">
            <a:r>
              <a:t/>
            </a:r>
          </a:p>
          <a:p xmlns:a="http://schemas.openxmlformats.org/drawingml/2006/main">
            <a:r>
              <a:t>There is also an evidence limitation: this survey does not present a new common benchmark table comparing every method under identical conditions. It does not report its own numerical ablation study either. So I will not give a percentage improvement that the paper does not establish. The useful contribution here is the organization of the research and the explanation of architectural choices.</a:t>
            </a:r>
          </a:p>
          <a:p xmlns:a="http://schemas.openxmlformats.org/drawingml/2006/main">
            <a:r>
              <a:t/>
            </a:r>
          </a:p>
          <a:p xmlns:a="http://schemas.openxmlformats.org/drawingml/2006/main">
            <a:r>
              <a:t>SOURCE: Ying et al. (2025), arXiv:2502.08828v2. https://arxiv.org/abs/2502.08828v2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evaluate these ideas in practice, I would compare several feature pipelines while holding the downstream model and data splits fixed.</a:t>
            </a:r>
          </a:p>
          <a:p xmlns:a="http://schemas.openxmlformats.org/drawingml/2006/main">
            <a:r>
              <a:t/>
            </a:r>
          </a:p>
          <a:p xmlns:a="http://schemas.openxmlformats.org/drawingml/2006/main">
            <a:r>
              <a:t>The comparison would include the original features, a simple feature-selection baseline, a few domain-informed transformations, and the advanced method. I would also compare learned search with random search using the same evaluation budget.</a:t>
            </a:r>
          </a:p>
          <a:p xmlns:a="http://schemas.openxmlformats.org/drawingml/2006/main">
            <a:r>
              <a:t/>
            </a:r>
          </a:p>
          <a:p xmlns:a="http://schemas.openxmlformats.org/drawingml/2006/main">
            <a:r>
              <a:t>For classification, the metrics should match the application. In an imbalanced churn problem, accuracy alone could hide poor performance on customers who actually leave. Precision, recall, F1, and precision–recall analysis could give a clearer picture. For regression, measures such as mean absolute error or root mean squared error would be appropriate depending on the objective.</a:t>
            </a:r>
          </a:p>
          <a:p xmlns:a="http://schemas.openxmlformats.org/drawingml/2006/main">
            <a:r>
              <a:t/>
            </a:r>
          </a:p>
          <a:p xmlns:a="http://schemas.openxmlformats.org/drawingml/2006/main">
            <a:r>
              <a:t>I would also record search time, training time, feature count, inference cost, and variability across runs.</a:t>
            </a:r>
          </a:p>
          <a:p xmlns:a="http://schemas.openxmlformats.org/drawingml/2006/main">
            <a:r>
              <a:t/>
            </a:r>
          </a:p>
          <a:p xmlns:a="http://schemas.openxmlformats.org/drawingml/2006/main">
            <a:r>
              <a:t>An ablation means removing or changing one component to see what it contributes. For example, remove the feature-count penalty, or remove the generative stage from a combined system. Does the added component justify its cost?</a:t>
            </a:r>
          </a:p>
          <a:p xmlns:a="http://schemas.openxmlformats.org/drawingml/2006/main">
            <a:r>
              <a:t/>
            </a:r>
          </a:p>
          <a:p xmlns:a="http://schemas.openxmlformats.org/drawingml/2006/main">
            <a:r>
              <a:t>These are proposed experiments. I have not run them for this review, and they are not results from the survey. The final test data must stay out of feature search and tuning, and learned transformations must be fitted within the training data of each validation split.</a:t>
            </a:r>
          </a:p>
          <a:p xmlns:a="http://schemas.openxmlformats.org/drawingml/2006/main">
            <a:r>
              <a:t/>
            </a:r>
          </a:p>
          <a:p xmlns:a="http://schemas.openxmlformats.org/drawingml/2006/main">
            <a:r>
              <a:t>SOURCE: Ying et al. (2025), arXiv:2502.08828v2. https://arxiv.org/abs/2502.08828v2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later sections discuss practical strategies and open challenges. The recommendations include starting simple, incorporating domain knowledge, validating new features, and considering computational constraints.</a:t>
            </a:r>
          </a:p>
          <a:p xmlns:a="http://schemas.openxmlformats.org/drawingml/2006/main">
            <a:r>
              <a:t/>
            </a:r>
          </a:p>
          <a:p xmlns:a="http://schemas.openxmlformats.org/drawingml/2006/main">
            <a:r>
              <a:t>For me, the most useful implementation lesson is to keep every transformation traceable. If a generated feature helps, I want to know its source columns, formula, and behavior on missing or unusual values. I also want to know whether its required inputs will exist when the system is deployed.</a:t>
            </a:r>
          </a:p>
          <a:p xmlns:a="http://schemas.openxmlformats.org/drawingml/2006/main">
            <a:r>
              <a:t/>
            </a:r>
          </a:p>
          <a:p xmlns:a="http://schemas.openxmlformats.org/drawingml/2006/main">
            <a:r>
              <a:t>Section 7 discusses choosing between RL and generative methods, including hybrid approaches. I would treat that guidance as a starting point for experiments, rather than a strict rule that a particular dataset always requires one family.</a:t>
            </a:r>
          </a:p>
          <a:p xmlns:a="http://schemas.openxmlformats.org/drawingml/2006/main">
            <a:r>
              <a:t/>
            </a:r>
          </a:p>
          <a:p xmlns:a="http://schemas.openxmlformats.org/drawingml/2006/main">
            <a:r>
              <a:t>Section 8 identifies challenges around automation, interpretability, privacy, efficiency, and combining multiple data types. These remind us that improving a validation score is only one part of building a useful system.</a:t>
            </a:r>
          </a:p>
          <a:p xmlns:a="http://schemas.openxmlformats.org/drawingml/2006/main">
            <a:r>
              <a:t/>
            </a:r>
          </a:p>
          <a:p xmlns:a="http://schemas.openxmlformats.org/drawingml/2006/main">
            <a:r>
              <a:t>For traditional-method context, I also consulted the broader 2025 survey by Dongjie Wang and colleagues, titled Towards Data-Centric AI. It covers conventional feature selection and generation alongside advanced approaches. The two surveys share authors, so I do not treat them as independent proof of the same performance claims.</a:t>
            </a:r>
          </a:p>
          <a:p xmlns:a="http://schemas.openxmlformats.org/drawingml/2006/main">
            <a:r>
              <a:t/>
            </a:r>
          </a:p>
          <a:p xmlns:a="http://schemas.openxmlformats.org/drawingml/2006/main">
            <a:r>
              <a:t>My conclusion is that feature engineering itself can become a learning problem. RL explores decisions using feedback, while generative methods learn representations that help propose new decisions. They can also work together.</a:t>
            </a:r>
          </a:p>
          <a:p xmlns:a="http://schemas.openxmlformats.org/drawingml/2006/main">
            <a:r>
              <a:t/>
            </a:r>
          </a:p>
          <a:p xmlns:a="http://schemas.openxmlformats.org/drawingml/2006/main">
            <a:r>
              <a:t>The practical question is whether those proposals produce reproducible improvements over simpler alternatives at an acceptable cost. That is what I would test before choosing an advanced pipeline. Thank you.</a:t>
            </a:r>
          </a:p>
          <a:p xmlns:a="http://schemas.openxmlformats.org/drawingml/2006/main">
            <a:r>
              <a:t/>
            </a:r>
          </a:p>
          <a:p xmlns:a="http://schemas.openxmlformats.org/drawingml/2006/main">
            <a:r>
              <a:t>SOURCE: Ying et al. (2025), arXiv:2502.08828v2. https://arxiv.org/abs/2502.08828v2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source: Ying et al. (2025), arXiv:2502.08828v2. https://arxiv.org/abs/2502.08828v2</a:t>
            </a:r>
          </a:p>
          <a:p xmlns:a="http://schemas.openxmlformats.org/drawingml/2006/main">
            <a:r>
              <a:t>Supporting source: https://arxiv.org/abs/2501.10555</a:t>
            </a:r>
          </a:p>
          <a:p xmlns:a="http://schemas.openxmlformats.org/drawingml/2006/main">
            <a:r>
              <a:t>Figures 2(a), 2(b), 3: cropped reproductions under https://creativecommons.org/licenses/by/4.0/</a:t>
            </a:r>
          </a:p>
          <a:p xmlns:a="http://schemas.openxmlformats.org/drawingml/2006/main">
            <a:r>
              <a:t>Both sources are cited as arXiv surveys. They share authors and are not independent experimental corroboration.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3ebbb341be49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3ed41c494d49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4d2ae60d0041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8607e311c54b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9b8f4e1f8c4a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75ff0935cb4a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A2DA7-FEBF-4592-843D-8CAC6B6812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FDB850-2305-464B-9AB4-AF8B0C824F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078A76-A1AB-47EE-99B7-9661E1E57B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6FE4CE-8E41-44EE-95E7-F9EDFF91F2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FADCC1-485D-40DB-9621-351DFF2946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FBF12A-93E4-4260-9680-1054B04828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D6722E-0334-4F01-9C2B-D73CE1AB0E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879BF7-C70E-4D9D-84D3-598EAB9238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603D99-0775-4830-AE51-F16B617DFF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2571BF-03B0-44F6-9CEA-86D8A0E2AC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1c050a52204d42" /><Relationship Type="http://schemas.openxmlformats.org/officeDocument/2006/relationships/slideLayout" Target="/ppt/slideLayouts/slideLayout1.xml" Id="Rb0229b5d26bc4a34" /><Relationship Type="http://schemas.openxmlformats.org/officeDocument/2006/relationships/slideLayout" Target="/ppt/slideLayouts/slideLayout2.xml" Id="R11bea89718124c2d" /><Relationship Type="http://schemas.openxmlformats.org/officeDocument/2006/relationships/slideLayout" Target="/ppt/slideLayouts/slideLayout3.xml" Id="Rdc7bda15273446cf" /><Relationship Type="http://schemas.openxmlformats.org/officeDocument/2006/relationships/slideLayout" Target="/ppt/slideLayouts/slideLayout4.xml" Id="R7d24c66a8f6f4064" /><Relationship Type="http://schemas.openxmlformats.org/officeDocument/2006/relationships/slideLayout" Target="/ppt/slideLayouts/slideLayout5.xml" Id="R2cd72ac6a6c14905" /><Relationship Type="http://schemas.openxmlformats.org/officeDocument/2006/relationships/slideLayout" Target="/ppt/slideLayouts/slideLayout6.xml" Id="R9f32ed70866d40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229b5d26bc4a34"/>
    <p:sldLayoutId xmlns:r="http://schemas.openxmlformats.org/officeDocument/2006/relationships" id="2147483650" r:id="R11bea89718124c2d"/>
    <p:sldLayoutId xmlns:r="http://schemas.openxmlformats.org/officeDocument/2006/relationships" id="2147483651" r:id="Rdc7bda15273446cf"/>
    <p:sldLayoutId xmlns:r="http://schemas.openxmlformats.org/officeDocument/2006/relationships" id="2147483652" r:id="R7d24c66a8f6f4064"/>
    <p:sldLayoutId xmlns:r="http://schemas.openxmlformats.org/officeDocument/2006/relationships" id="2147483653" r:id="R2cd72ac6a6c14905"/>
    <p:sldLayoutId xmlns:r="http://schemas.openxmlformats.org/officeDocument/2006/relationships" id="2147483654" r:id="R9f32ed70866d40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216de6f5e74113" /><Relationship Type="http://schemas.openxmlformats.org/officeDocument/2006/relationships/notesSlide" Target="/ppt/notesSlides/notesSlide1.xml" Id="R6ff7a40c508f44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cfcec3389f447a" /><Relationship Type="http://schemas.openxmlformats.org/officeDocument/2006/relationships/notesSlide" Target="/ppt/notesSlides/notesSlide2.xml" Id="R6e07bfe27f594f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dffd374b55404e" /><Relationship Type="http://schemas.openxmlformats.org/officeDocument/2006/relationships/notesSlide" Target="/ppt/notesSlides/notesSlide3.xml" Id="Rb3ac7c5d53804c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220918e6d14cb6" /><Relationship Type="http://schemas.openxmlformats.org/officeDocument/2006/relationships/image" Target="/ppt/media/image.png" Id="R6dfdb5495d614e19" /><Relationship Type="http://schemas.openxmlformats.org/officeDocument/2006/relationships/notesSlide" Target="/ppt/notesSlides/notesSlide4.xml" Id="R6cfa5ba4e34443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6f55663ec04c6c" /><Relationship Type="http://schemas.openxmlformats.org/officeDocument/2006/relationships/image" Target="/ppt/media/image2.png" Id="R83656481fffd4e91" /><Relationship Type="http://schemas.openxmlformats.org/officeDocument/2006/relationships/notesSlide" Target="/ppt/notesSlides/notesSlide5.xml" Id="R1ee4bc7a22074e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9a58b800c445a6" /><Relationship Type="http://schemas.openxmlformats.org/officeDocument/2006/relationships/image" Target="/ppt/media/image3.png" Id="R16351da86be841cf" /><Relationship Type="http://schemas.openxmlformats.org/officeDocument/2006/relationships/notesSlide" Target="/ppt/notesSlides/notesSlide6.xml" Id="Rde61b213790c43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49498cc07c4068" /><Relationship Type="http://schemas.openxmlformats.org/officeDocument/2006/relationships/notesSlide" Target="/ppt/notesSlides/notesSlide7.xml" Id="R7359eb91862146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fa442b0a464ce4" /><Relationship Type="http://schemas.openxmlformats.org/officeDocument/2006/relationships/notesSlide" Target="/ppt/notesSlides/notesSlide8.xml" Id="R7b042da5ba7a45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f1961794ad4631" /><Relationship Type="http://schemas.openxmlformats.org/officeDocument/2006/relationships/notesSlide" Target="/ppt/notesSlides/notesSlide9.xml" Id="R066a1f99b24d46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bd03e7852a64c78" /><Relationship Type="http://schemas.openxmlformats.org/officeDocument/2006/relationships/notesSlide" Target="/ppt/notesSlides/notesSlide10.xml" Id="Ra6f823c934e84a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cf9540e9434ebf" /><Relationship Type="http://schemas.openxmlformats.org/officeDocument/2006/relationships/notesSlide" Target="/ppt/notesSlides/notesSlide11.xml" Id="R6f1e06db72d64bb8" /></Relationships>
</file>

<file path=ppt/slides/slide1.xml><?xml version="1.0" encoding="utf-8"?>
<p:sld xmlns:p="http://schemas.openxmlformats.org/presentationml/2006/main">
  <p:cSld>
    <p:bg>
      <p:bgPr>
        <a:solidFill xmlns:a="http://schemas.openxmlformats.org/drawingml/2006/main">
          <a:srgbClr val="172B4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7E4D9DE-2DD0-4E68-8EB6-0951A00CC86A}"/>
              </a:ext>
            </a:extLst>
          </p:cNvPr>
          <p:cNvSpPr>
            <a:spLocks xmlns:a="http://schemas.openxmlformats.org/drawingml/2006/main" noGrp="1"/>
          </p:cNvSpPr>
          <p:nvPr/>
        </p:nvSpPr>
        <p:spPr>
          <a:xfrm xmlns:a="http://schemas.openxmlformats.org/drawingml/2006/main">
            <a:off x="685800" y="1285875"/>
            <a:ext cx="1047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800" b="1">
                <a:solidFill>
                  <a:srgbClr val="FFFFFF"/>
                </a:solidFill>
                <a:latin typeface="DejaVu Sans"/>
                <a:ea typeface="DejaVu Sans"/>
                <a:cs typeface="DejaVu Sans"/>
              </a:defRPr>
            </a:defPPr>
          </a:lstStyle>
          <a:p xmlns:a="http://schemas.openxmlformats.org/drawingml/2006/main">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Better Features</a:t>
            </a:r>
          </a:p>
          <a:p xmlns:a="http://schemas.openxmlformats.org/drawingml/2006/main">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Before Bigger Models</a:t>
            </a:r>
          </a:p>
        </p:txBody>
      </p:sp>
      <p:sp>
        <p:nvSpPr>
          <p:cNvPr id="2" name="">
            <a:extLst xmlns:a="http://schemas.openxmlformats.org/drawingml/2006/main">
              <a:ext uri="{FF2B5EF4-FFF2-40B4-BE49-F238E27FC236}">
                <a16:creationId xmlns:a16="http://schemas.microsoft.com/office/drawing/2014/main" id="{6C6909CC-E384-40EB-9048-C4E9C5B371AA}"/>
              </a:ext>
            </a:extLst>
          </p:cNvPr>
          <p:cNvSpPr>
            <a:spLocks xmlns:a="http://schemas.openxmlformats.org/drawingml/2006/main" noGrp="1"/>
          </p:cNvSpPr>
          <p:nvPr/>
        </p:nvSpPr>
        <p:spPr>
          <a:xfrm xmlns:a="http://schemas.openxmlformats.org/drawingml/2006/main">
            <a:off x="723900" y="3619500"/>
            <a:ext cx="1019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BDE5E4"/>
                </a:solidFill>
                <a:latin typeface="DejaVu Sans"/>
                <a:ea typeface="DejaVu Sans"/>
                <a:cs typeface="DejaVu Sans"/>
              </a:defRPr>
            </a:defPPr>
          </a:lstStyle>
          <a:p xmlns:a="http://schemas.openxmlformats.org/drawingml/2006/main">
            <a:pPr>
              <a:defRPr sz="2250" b="0">
                <a:solidFill>
                  <a:srgbClr val="BDE5E4"/>
                </a:solidFill>
                <a:latin typeface="DejaVu Sans"/>
                <a:ea typeface="DejaVu Sans"/>
                <a:cs typeface="DejaVu Sans"/>
              </a:defRPr>
            </a:pPr>
            <a:r>
              <a:rPr sz="2250" b="0">
                <a:solidFill>
                  <a:srgbClr val="BDE5E4"/>
                </a:solidFill>
                <a:latin typeface="DejaVu Sans"/>
                <a:ea typeface="DejaVu Sans"/>
                <a:cs typeface="DejaVu Sans"/>
              </a:rPr>
              <a:t>Reinforcement learning and generative methods</a:t>
            </a:r>
          </a:p>
          <a:p xmlns:a="http://schemas.openxmlformats.org/drawingml/2006/main">
            <a:pPr>
              <a:defRPr sz="2250" b="0">
                <a:solidFill>
                  <a:srgbClr val="BDE5E4"/>
                </a:solidFill>
                <a:latin typeface="DejaVu Sans"/>
                <a:ea typeface="DejaVu Sans"/>
                <a:cs typeface="DejaVu Sans"/>
              </a:defRPr>
            </a:pPr>
            <a:r>
              <a:rPr sz="2250" b="0">
                <a:solidFill>
                  <a:srgbClr val="BDE5E4"/>
                </a:solidFill>
                <a:latin typeface="DejaVu Sans"/>
                <a:ea typeface="DejaVu Sans"/>
                <a:cs typeface="DejaVu Sans"/>
              </a:rPr>
              <a:t>for tabular feature engineering</a:t>
            </a:r>
          </a:p>
        </p:txBody>
      </p:sp>
      <p:sp>
        <p:nvSpPr>
          <p:cNvPr id="3" name="">
            <a:extLst xmlns:a="http://schemas.openxmlformats.org/drawingml/2006/main">
              <a:ext uri="{FF2B5EF4-FFF2-40B4-BE49-F238E27FC236}">
                <a16:creationId xmlns:a16="http://schemas.microsoft.com/office/drawing/2014/main" id="{A3D0432E-A37B-4E3C-9279-830F51C85265}"/>
              </a:ext>
            </a:extLst>
          </p:cNvPr>
          <p:cNvSpPr>
            <a:spLocks xmlns:a="http://schemas.openxmlformats.org/drawingml/2006/main" noGrp="1"/>
          </p:cNvSpPr>
          <p:nvPr/>
        </p:nvSpPr>
        <p:spPr>
          <a:xfrm xmlns:a="http://schemas.openxmlformats.org/drawingml/2006/main">
            <a:off x="723900" y="5381625"/>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Salih Eren Yuzbasioglu</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CMPE 255 / Individual paper review</a:t>
            </a:r>
          </a:p>
        </p:txBody>
      </p:sp>
    </p:spTree>
    <p:extLst>
      <p:ext uri="{BB962C8B-B14F-4D97-AF65-F5344CB8AC3E}">
        <p14:creationId xmlns:p14="http://schemas.microsoft.com/office/powerpoint/2010/main" val="310157270"/>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519C4C-8FAF-48A6-A90F-37E363E7FA4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The input representation matters</a:t>
            </a:r>
          </a:p>
        </p:txBody>
      </p:sp>
      <p:sp>
        <p:nvSpPr>
          <p:cNvPr id="2" name="">
            <a:extLst xmlns:a="http://schemas.openxmlformats.org/drawingml/2006/main">
              <a:ext uri="{FF2B5EF4-FFF2-40B4-BE49-F238E27FC236}">
                <a16:creationId xmlns:a16="http://schemas.microsoft.com/office/drawing/2014/main" id="{1F9D7D64-A51D-4493-81BA-C5F2588C66AC}"/>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5816E41E-3F4F-47A5-9441-9AF5479A3142}"/>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Paper: Introduction, p. 1. Customer example is illustrative.</a:t>
            </a:r>
          </a:p>
        </p:txBody>
      </p:sp>
      <p:sp>
        <p:nvSpPr>
          <p:cNvPr id="4" name="">
            <a:extLst xmlns:a="http://schemas.openxmlformats.org/drawingml/2006/main">
              <a:ext uri="{FF2B5EF4-FFF2-40B4-BE49-F238E27FC236}">
                <a16:creationId xmlns:a16="http://schemas.microsoft.com/office/drawing/2014/main" id="{5224B5C4-CBDE-4C73-B367-F4220FEEB2C9}"/>
              </a:ext>
            </a:extLst>
          </p:cNvPr>
          <p:cNvSpPr>
            <a:spLocks xmlns:a="http://schemas.openxmlformats.org/drawingml/2006/main" noGrp="1"/>
          </p:cNvSpPr>
          <p:nvPr/>
        </p:nvSpPr>
        <p:spPr>
          <a:xfrm xmlns:a="http://schemas.openxmlformats.org/drawingml/2006/main">
            <a:off x="609600" y="15716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87F8C"/>
                </a:solidFill>
                <a:latin typeface="DejaVu Sans"/>
                <a:ea typeface="DejaVu Sans"/>
                <a:cs typeface="DejaVu Sans"/>
              </a:defRPr>
            </a:defPPr>
          </a:lstStyle>
          <a:p xmlns:a="http://schemas.openxmlformats.org/drawingml/2006/main">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Example task: predict customer churn</a:t>
            </a:r>
          </a:p>
        </p:txBody>
      </p:sp>
      <p:graphicFrame>
        <p:nvGraphicFramePr>
          <p:cNvPr id="5" name="">
            <a:extLst xmlns:a="http://schemas.openxmlformats.org/drawingml/2006/main">
              <a:ext uri="{FF2B5EF4-FFF2-40B4-BE49-F238E27FC236}">
                <a16:creationId xmlns:a16="http://schemas.microsoft.com/office/drawing/2014/main" id="{738A435A-9995-47DE-B1F8-E17E0BCF391C}"/>
              </a:ext>
            </a:extLst>
          </p:cNvPr>
          <p:cNvGraphicFramePr/>
          <p:nvPr/>
        </p:nvGraphicFramePr>
        <p:xfrm>
          <a:off xmlns:a="http://schemas.openxmlformats.org/drawingml/2006/main" x="609600" y="2333625"/>
          <a:ext xmlns:a="http://schemas.openxmlformats.org/drawingml/2006/main" cx="10972800" cy="2667000"/>
        </p:xfrm>
        <a:graphic xmlns:a="http://schemas.openxmlformats.org/drawingml/2006/main">
          <a:graphicData uri="http://schemas.openxmlformats.org/drawingml/2006/table">
            <a:tbl>
              <a:tblPr/>
              <a:tblGrid>
                <a:gridCol w="3810000"/>
                <a:gridCol w="7162800"/>
              </a:tblGrid>
              <a:tr h="666750">
                <a:tc>
                  <a:txBody>
                    <a:bodyPr lIns="142875" tIns="142875" rIns="142875" bIns="142875"/>
                    <a:lstStyle/>
                    <a:p>
                      <a:r>
                        <a:rPr sz="1800" b="1">
                          <a:solidFill>
                            <a:srgbClr val="FFFFFF"/>
                          </a:solidFill>
                          <a:latin typeface="DejaVu Sans"/>
                          <a:ea typeface="DejaVu Sans"/>
                          <a:cs typeface="DejaVu Sans"/>
                        </a:rPr>
                        <a:t>Original feature</a:t>
                      </a:r>
                    </a:p>
                  </a:txBody>
                  <a:tcPr marL="91440" marR="91440" marT="45720" marB="4572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c>
                  <a:txBody>
                    <a:bodyPr lIns="142875" tIns="142875" rIns="142875" bIns="142875"/>
                    <a:lstStyle/>
                    <a:p>
                      <a:r>
                        <a:rPr sz="1800" b="1">
                          <a:solidFill>
                            <a:srgbClr val="FFFFFF"/>
                          </a:solidFill>
                          <a:latin typeface="DejaVu Sans"/>
                          <a:ea typeface="DejaVu Sans"/>
                          <a:cs typeface="DejaVu Sans"/>
                        </a:rPr>
                        <a:t>Question to ask</a:t>
                      </a:r>
                    </a:p>
                  </a:txBody>
                  <a:tcPr marL="91440" marR="91440" marT="45720" marB="45720">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r>
              <a:tr h="666750">
                <a:tc>
                  <a:txBody>
                    <a:bodyPr lIns="142875" tIns="142875" rIns="142875" bIns="142875"/>
                    <a:lstStyle/>
                    <a:p>
                      <a:r>
                        <a:rPr sz="1800" b="0">
                          <a:solidFill>
                            <a:srgbClr val="172B40"/>
                          </a:solidFill>
                          <a:latin typeface="DejaVu Sans"/>
                          <a:ea typeface="DejaVu Sans"/>
                          <a:cs typeface="DejaVu Sans"/>
                        </a:rPr>
                        <a:t>Customer identifier</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Does it help with unseen customers?</a:t>
                      </a:r>
                    </a:p>
                  </a:txBody>
                  <a:tcPr marL="91440" marR="91440" marT="45720" marB="45720">
                    <a:lnR w="9525">
                      <a:solidFill>
                        <a:srgbClr val="D8E1E7"/>
                      </a:solidFill>
                      <a:prstDash val="solid"/>
                    </a:lnR>
                    <a:lnB w="9525">
                      <a:solidFill>
                        <a:srgbClr val="D8E1E7"/>
                      </a:solidFill>
                      <a:prstDash val="solid"/>
                    </a:lnB>
                    <a:solidFill>
                      <a:srgbClr val="FFFFFF"/>
                    </a:solidFill>
                  </a:tcPr>
                </a:tc>
              </a:tr>
              <a:tr h="666750">
                <a:tc>
                  <a:txBody>
                    <a:bodyPr lIns="142875" tIns="142875" rIns="142875" bIns="142875"/>
                    <a:lstStyle/>
                    <a:p>
                      <a:r>
                        <a:rPr sz="1800" b="0">
                          <a:solidFill>
                            <a:srgbClr val="172B40"/>
                          </a:solidFill>
                          <a:latin typeface="DejaVu Sans"/>
                          <a:ea typeface="DejaVu Sans"/>
                          <a:cs typeface="DejaVu Sans"/>
                        </a:rPr>
                        <a:t>Total spending</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EDF3F5"/>
                    </a:solidFill>
                  </a:tcPr>
                </a:tc>
                <a:tc>
                  <a:txBody>
                    <a:bodyPr lIns="142875" tIns="142875" rIns="142875" bIns="142875"/>
                    <a:lstStyle/>
                    <a:p>
                      <a:r>
                        <a:rPr sz="1800" b="0">
                          <a:solidFill>
                            <a:srgbClr val="172B40"/>
                          </a:solidFill>
                          <a:latin typeface="DejaVu Sans"/>
                          <a:ea typeface="DejaVu Sans"/>
                          <a:cs typeface="DejaVu Sans"/>
                        </a:rPr>
                        <a:t>Does account age change its meaning?</a:t>
                      </a:r>
                    </a:p>
                  </a:txBody>
                  <a:tcPr marL="91440" marR="91440" marT="45720" marB="45720">
                    <a:lnR w="9525">
                      <a:solidFill>
                        <a:srgbClr val="D8E1E7"/>
                      </a:solidFill>
                      <a:prstDash val="solid"/>
                    </a:lnR>
                    <a:lnB w="9525">
                      <a:solidFill>
                        <a:srgbClr val="D8E1E7"/>
                      </a:solidFill>
                      <a:prstDash val="solid"/>
                    </a:lnB>
                    <a:solidFill>
                      <a:srgbClr val="EDF3F5"/>
                    </a:solidFill>
                  </a:tcPr>
                </a:tc>
              </a:tr>
              <a:tr h="666750">
                <a:tc>
                  <a:txBody>
                    <a:bodyPr lIns="142875" tIns="142875" rIns="142875" bIns="142875"/>
                    <a:lstStyle/>
                    <a:p>
                      <a:r>
                        <a:rPr sz="1800" b="0">
                          <a:solidFill>
                            <a:srgbClr val="172B40"/>
                          </a:solidFill>
                          <a:latin typeface="DejaVu Sans"/>
                          <a:ea typeface="DejaVu Sans"/>
                          <a:cs typeface="DejaVu Sans"/>
                        </a:rPr>
                        <a:t>Recent visits</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Was this measured before prediction?</a:t>
                      </a:r>
                    </a:p>
                  </a:txBody>
                  <a:tcPr marL="91440" marR="91440" marT="45720" marB="45720">
                    <a:lnR w="9525">
                      <a:solidFill>
                        <a:srgbClr val="D8E1E7"/>
                      </a:solidFill>
                      <a:prstDash val="solid"/>
                    </a:lnR>
                    <a:lnB w="9525">
                      <a:solidFill>
                        <a:srgbClr val="D8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94BFC2-2DE0-4339-84F0-65B1284DB870}"/>
              </a:ext>
            </a:extLst>
          </p:cNvPr>
          <p:cNvSpPr>
            <a:spLocks xmlns:a="http://schemas.openxmlformats.org/drawingml/2006/main" noGrp="1"/>
          </p:cNvSpPr>
          <p:nvPr/>
        </p:nvSpPr>
        <p:spPr>
          <a:xfrm xmlns:a="http://schemas.openxmlformats.org/drawingml/2006/main">
            <a:off x="609600" y="5381625"/>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72B40"/>
                </a:solidFill>
                <a:latin typeface="DejaVu Sans"/>
                <a:ea typeface="DejaVu Sans"/>
                <a:cs typeface="DejaVu Sans"/>
              </a:defRPr>
            </a:defPPr>
          </a:lstStyle>
          <a:p xmlns:a="http://schemas.openxmlformats.org/drawingml/2006/main">
            <a:pPr>
              <a:defRPr sz="2400" b="1">
                <a:solidFill>
                  <a:srgbClr val="172B40"/>
                </a:solidFill>
                <a:latin typeface="DejaVu Sans"/>
                <a:ea typeface="DejaVu Sans"/>
                <a:cs typeface="DejaVu Sans"/>
              </a:defRPr>
            </a:pPr>
            <a:r>
              <a:rPr sz="2400" b="1">
                <a:solidFill>
                  <a:srgbClr val="172B40"/>
                </a:solidFill>
                <a:latin typeface="DejaVu Sans"/>
                <a:ea typeface="DejaVu Sans"/>
                <a:cs typeface="DejaVu Sans"/>
              </a:rPr>
              <a:t>Candidate feature: spending per month</a:t>
            </a:r>
          </a:p>
        </p:txBody>
      </p:sp>
    </p:spTree>
    <p:extLst>
      <p:ext uri="{BB962C8B-B14F-4D97-AF65-F5344CB8AC3E}">
        <p14:creationId xmlns:p14="http://schemas.microsoft.com/office/powerpoint/2010/main" val="129415546"/>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DBF280-BD88-4D68-B26D-9735D6AC365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Feature selection and generation</a:t>
            </a:r>
          </a:p>
        </p:txBody>
      </p:sp>
      <p:sp>
        <p:nvSpPr>
          <p:cNvPr id="2" name="">
            <a:extLst xmlns:a="http://schemas.openxmlformats.org/drawingml/2006/main">
              <a:ext uri="{FF2B5EF4-FFF2-40B4-BE49-F238E27FC236}">
                <a16:creationId xmlns:a16="http://schemas.microsoft.com/office/drawing/2014/main" id="{BA62840F-A483-4328-BBC4-8E164BBCE5E6}"/>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489A281C-C483-4D37-A8AE-B39B22DFE49F}"/>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Paper: Section 2 and Figure 1, p. 2. Examples are explanatory.</a:t>
            </a:r>
          </a:p>
        </p:txBody>
      </p:sp>
      <p:graphicFrame>
        <p:nvGraphicFramePr>
          <p:cNvPr id="4" name="">
            <a:extLst xmlns:a="http://schemas.openxmlformats.org/drawingml/2006/main">
              <a:ext uri="{FF2B5EF4-FFF2-40B4-BE49-F238E27FC236}">
                <a16:creationId xmlns:a16="http://schemas.microsoft.com/office/drawing/2014/main" id="{EEACB23E-70A0-4A20-ACBA-85ED45E72202}"/>
              </a:ext>
            </a:extLst>
          </p:cNvPr>
          <p:cNvGraphicFramePr/>
          <p:nvPr/>
        </p:nvGraphicFramePr>
        <p:xfrm>
          <a:off xmlns:a="http://schemas.openxmlformats.org/drawingml/2006/main" x="609600" y="1695450"/>
          <a:ext xmlns:a="http://schemas.openxmlformats.org/drawingml/2006/main" cx="10972800" cy="3143250"/>
        </p:xfrm>
        <a:graphic xmlns:a="http://schemas.openxmlformats.org/drawingml/2006/main">
          <a:graphicData uri="http://schemas.openxmlformats.org/drawingml/2006/table">
            <a:tbl>
              <a:tblPr/>
              <a:tblGrid>
                <a:gridCol w="2000250"/>
                <a:gridCol w="4486275"/>
                <a:gridCol w="4486275"/>
              </a:tblGrid>
              <a:tr h="785813">
                <a:tc>
                  <a:txBody>
                    <a:bodyPr lIns="142875" tIns="142875" rIns="142875" bIns="142875"/>
                    <a:lstStyle/>
                    <a:p>
                      <a:r>
                        <a:rPr sz="1800" b="1">
                          <a:solidFill>
                            <a:srgbClr val="FFFFFF"/>
                          </a:solidFill>
                          <a:latin typeface="DejaVu Sans"/>
                          <a:ea typeface="DejaVu Sans"/>
                          <a:cs typeface="DejaVu Sans"/>
                        </a:rPr>
                        <a:t/>
                      </a:r>
                    </a:p>
                  </a:txBody>
                  <a:tcPr marL="91440" marR="91440" marT="45720" marB="4572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c>
                  <a:txBody>
                    <a:bodyPr lIns="142875" tIns="142875" rIns="142875" bIns="142875"/>
                    <a:lstStyle/>
                    <a:p>
                      <a:r>
                        <a:rPr sz="1800" b="1">
                          <a:solidFill>
                            <a:srgbClr val="FFFFFF"/>
                          </a:solidFill>
                          <a:latin typeface="DejaVu Sans"/>
                          <a:ea typeface="DejaVu Sans"/>
                          <a:cs typeface="DejaVu Sans"/>
                        </a:rPr>
                        <a:t>Selection</a:t>
                      </a:r>
                    </a:p>
                  </a:txBody>
                  <a:tcPr marL="91440" marR="91440" marT="45720" marB="45720">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c>
                  <a:txBody>
                    <a:bodyPr lIns="142875" tIns="142875" rIns="142875" bIns="142875"/>
                    <a:lstStyle/>
                    <a:p>
                      <a:r>
                        <a:rPr sz="1800" b="1">
                          <a:solidFill>
                            <a:srgbClr val="FFFFFF"/>
                          </a:solidFill>
                          <a:latin typeface="DejaVu Sans"/>
                          <a:ea typeface="DejaVu Sans"/>
                          <a:cs typeface="DejaVu Sans"/>
                        </a:rPr>
                        <a:t>Generation</a:t>
                      </a:r>
                    </a:p>
                  </a:txBody>
                  <a:tcPr marL="91440" marR="91440" marT="45720" marB="45720">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r>
              <a:tr h="785813">
                <a:tc>
                  <a:txBody>
                    <a:bodyPr lIns="142875" tIns="142875" rIns="142875" bIns="142875"/>
                    <a:lstStyle/>
                    <a:p>
                      <a:r>
                        <a:rPr sz="1800" b="0">
                          <a:solidFill>
                            <a:srgbClr val="172B40"/>
                          </a:solidFill>
                          <a:latin typeface="DejaVu Sans"/>
                          <a:ea typeface="DejaVu Sans"/>
                          <a:cs typeface="DejaVu Sans"/>
                        </a:rPr>
                        <a:t>Goal</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Keep useful existing columns</a:t>
                      </a:r>
                    </a:p>
                  </a:txBody>
                  <a:tcPr marL="91440" marR="91440" marT="45720" marB="45720">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Construct useful new columns</a:t>
                      </a:r>
                    </a:p>
                  </a:txBody>
                  <a:tcPr marL="91440" marR="91440" marT="45720" marB="45720">
                    <a:lnR w="9525">
                      <a:solidFill>
                        <a:srgbClr val="D8E1E7"/>
                      </a:solidFill>
                      <a:prstDash val="solid"/>
                    </a:lnR>
                    <a:lnB w="9525">
                      <a:solidFill>
                        <a:srgbClr val="D8E1E7"/>
                      </a:solidFill>
                      <a:prstDash val="solid"/>
                    </a:lnB>
                    <a:solidFill>
                      <a:srgbClr val="FFFFFF"/>
                    </a:solidFill>
                  </a:tcPr>
                </a:tc>
              </a:tr>
              <a:tr h="785813">
                <a:tc>
                  <a:txBody>
                    <a:bodyPr lIns="142875" tIns="142875" rIns="142875" bIns="142875"/>
                    <a:lstStyle/>
                    <a:p>
                      <a:r>
                        <a:rPr sz="1800" b="0">
                          <a:solidFill>
                            <a:srgbClr val="172B40"/>
                          </a:solidFill>
                          <a:latin typeface="DejaVu Sans"/>
                          <a:ea typeface="DejaVu Sans"/>
                          <a:cs typeface="DejaVu Sans"/>
                        </a:rPr>
                        <a:t>Example</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EDF3F5"/>
                    </a:solidFill>
                  </a:tcPr>
                </a:tc>
                <a:tc>
                  <a:txBody>
                    <a:bodyPr lIns="142875" tIns="142875" rIns="142875" bIns="142875"/>
                    <a:lstStyle/>
                    <a:p>
                      <a:r>
                        <a:rPr sz="1800" b="0">
                          <a:solidFill>
                            <a:srgbClr val="172B40"/>
                          </a:solidFill>
                          <a:latin typeface="DejaVu Sans"/>
                          <a:ea typeface="DejaVu Sans"/>
                          <a:cs typeface="DejaVu Sans"/>
                        </a:rPr>
                        <a:t>Remove a redundant column</a:t>
                      </a:r>
                    </a:p>
                  </a:txBody>
                  <a:tcPr marL="91440" marR="91440" marT="45720" marB="45720">
                    <a:lnR w="9525">
                      <a:solidFill>
                        <a:srgbClr val="D8E1E7"/>
                      </a:solidFill>
                      <a:prstDash val="solid"/>
                    </a:lnR>
                    <a:lnB w="9525">
                      <a:solidFill>
                        <a:srgbClr val="D8E1E7"/>
                      </a:solidFill>
                      <a:prstDash val="solid"/>
                    </a:lnB>
                    <a:solidFill>
                      <a:srgbClr val="EDF3F5"/>
                    </a:solidFill>
                  </a:tcPr>
                </a:tc>
                <a:tc>
                  <a:txBody>
                    <a:bodyPr lIns="142875" tIns="142875" rIns="142875" bIns="142875"/>
                    <a:lstStyle/>
                    <a:p>
                      <a:r>
                        <a:rPr sz="1800" b="0">
                          <a:solidFill>
                            <a:srgbClr val="172B40"/>
                          </a:solidFill>
                          <a:latin typeface="DejaVu Sans"/>
                          <a:ea typeface="DejaVu Sans"/>
                          <a:cs typeface="DejaVu Sans"/>
                        </a:rPr>
                        <a:t>Spending ÷ account age</a:t>
                      </a:r>
                    </a:p>
                  </a:txBody>
                  <a:tcPr marL="91440" marR="91440" marT="45720" marB="45720">
                    <a:lnR w="9525">
                      <a:solidFill>
                        <a:srgbClr val="D8E1E7"/>
                      </a:solidFill>
                      <a:prstDash val="solid"/>
                    </a:lnR>
                    <a:lnB w="9525">
                      <a:solidFill>
                        <a:srgbClr val="D8E1E7"/>
                      </a:solidFill>
                      <a:prstDash val="solid"/>
                    </a:lnB>
                    <a:solidFill>
                      <a:srgbClr val="EDF3F5"/>
                    </a:solidFill>
                  </a:tcPr>
                </a:tc>
              </a:tr>
              <a:tr h="785813">
                <a:tc>
                  <a:txBody>
                    <a:bodyPr lIns="142875" tIns="142875" rIns="142875" bIns="142875"/>
                    <a:lstStyle/>
                    <a:p>
                      <a:r>
                        <a:rPr sz="1800" b="0">
                          <a:solidFill>
                            <a:srgbClr val="172B40"/>
                          </a:solidFill>
                          <a:latin typeface="DejaVu Sans"/>
                          <a:ea typeface="DejaVu Sans"/>
                          <a:cs typeface="DejaVu Sans"/>
                        </a:rPr>
                        <a:t>Main concern</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Discarding useful interactions</a:t>
                      </a:r>
                    </a:p>
                  </a:txBody>
                  <a:tcPr marL="91440" marR="91440" marT="45720" marB="45720">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Invalid or costly transformations</a:t>
                      </a:r>
                    </a:p>
                  </a:txBody>
                  <a:tcPr marL="91440" marR="91440" marT="45720" marB="45720">
                    <a:lnR w="9525">
                      <a:solidFill>
                        <a:srgbClr val="D8E1E7"/>
                      </a:solidFill>
                      <a:prstDash val="solid"/>
                    </a:lnR>
                    <a:lnB w="9525">
                      <a:solidFill>
                        <a:srgbClr val="D8E1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585F04A-4307-4E92-8F76-F0C69589D7EE}"/>
              </a:ext>
            </a:extLst>
          </p:cNvPr>
          <p:cNvSpPr>
            <a:spLocks xmlns:a="http://schemas.openxmlformats.org/drawingml/2006/main" noGrp="1"/>
          </p:cNvSpPr>
          <p:nvPr/>
        </p:nvSpPr>
        <p:spPr>
          <a:xfrm xmlns:a="http://schemas.openxmlformats.org/drawingml/2006/main">
            <a:off x="609600" y="52959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87F8C"/>
                </a:solidFill>
                <a:latin typeface="DejaVu Sans"/>
                <a:ea typeface="DejaVu Sans"/>
                <a:cs typeface="DejaVu Sans"/>
              </a:defRPr>
            </a:defPPr>
          </a:lstStyle>
          <a:p xmlns:a="http://schemas.openxmlformats.org/drawingml/2006/main">
            <a:pPr>
              <a:defRPr sz="2400" b="1">
                <a:solidFill>
                  <a:srgbClr val="087F8C"/>
                </a:solidFill>
                <a:latin typeface="DejaVu Sans"/>
                <a:ea typeface="DejaVu Sans"/>
                <a:cs typeface="DejaVu Sans"/>
              </a:defRPr>
            </a:pPr>
            <a:r>
              <a:rPr sz="2400" b="1">
                <a:solidFill>
                  <a:srgbClr val="087F8C"/>
                </a:solidFill>
                <a:latin typeface="DejaVu Sans"/>
                <a:ea typeface="DejaVu Sans"/>
                <a:cs typeface="DejaVu Sans"/>
              </a:rPr>
              <a:t>Both approaches need validation on unseen data.</a:t>
            </a:r>
          </a:p>
        </p:txBody>
      </p:sp>
    </p:spTree>
    <p:extLst>
      <p:ext uri="{BB962C8B-B14F-4D97-AF65-F5344CB8AC3E}">
        <p14:creationId xmlns:p14="http://schemas.microsoft.com/office/powerpoint/2010/main" val="1587207573"/>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9BED1D-6CBD-4A37-9FF6-51999810708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Reinforcement learning for selection</a:t>
            </a:r>
          </a:p>
        </p:txBody>
      </p:sp>
      <p:sp>
        <p:nvSpPr>
          <p:cNvPr id="2" name="">
            <a:extLst xmlns:a="http://schemas.openxmlformats.org/drawingml/2006/main">
              <a:ext uri="{FF2B5EF4-FFF2-40B4-BE49-F238E27FC236}">
                <a16:creationId xmlns:a16="http://schemas.microsoft.com/office/drawing/2014/main" id="{8E0F6D6E-ECA1-43C0-A99A-B3F8778A4E13}"/>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C9D00195-F20F-4220-A07E-44A41DF9A451}"/>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Ying et al., Figure 2(a), p. 3. Cropped reproduction, CC BY 4.0.</a:t>
            </a:r>
          </a:p>
        </p:txBody>
      </p:sp>
      <p:pic>
        <p:nvPicPr>
          <p:cNvPr id="4" name="">
            <a:extLst xmlns:a="http://schemas.openxmlformats.org/drawingml/2006/main">
              <a:ext uri="{FF2B5EF4-FFF2-40B4-BE49-F238E27FC236}">
                <a16:creationId xmlns:a16="http://schemas.microsoft.com/office/drawing/2014/main" id="{069AE518-CB66-4309-91D0-22E4412A9A2E}"/>
              </a:ext>
            </a:extLst>
          </p:cNvPr>
          <p:cNvPicPr>
            <a:picLocks xmlns:a="http://schemas.openxmlformats.org/drawingml/2006/main" noChangeAspect="1"/>
          </p:cNvPicPr>
          <p:nvPr/>
        </p:nvPicPr>
        <p:blipFill>
          <a:blip xmlns:r="http://schemas.openxmlformats.org/officeDocument/2006/relationships" xmlns:a="http://schemas.openxmlformats.org/drawingml/2006/main" r:embed="R6dfdb5495d614e19"/>
          <a:stretch xmlns:a="http://schemas.openxmlformats.org/drawingml/2006/main"/>
        </p:blipFill>
        <p:spPr>
          <a:xfrm xmlns:a="http://schemas.openxmlformats.org/drawingml/2006/main">
            <a:off x="7133923" y="1524000"/>
            <a:ext cx="3924905"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DA3445-B5EE-4B91-88A1-2294F179CBE9}"/>
              </a:ext>
            </a:extLst>
          </p:cNvPr>
          <p:cNvSpPr>
            <a:spLocks xmlns:a="http://schemas.openxmlformats.org/drawingml/2006/main" noGrp="1"/>
          </p:cNvSpPr>
          <p:nvPr/>
        </p:nvSpPr>
        <p:spPr>
          <a:xfrm xmlns:a="http://schemas.openxmlformats.org/drawingml/2006/main">
            <a:off x="609600" y="17145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State</a:t>
            </a:r>
          </a:p>
        </p:txBody>
      </p:sp>
      <p:sp>
        <p:nvSpPr>
          <p:cNvPr id="6" name="">
            <a:extLst xmlns:a="http://schemas.openxmlformats.org/drawingml/2006/main">
              <a:ext uri="{FF2B5EF4-FFF2-40B4-BE49-F238E27FC236}">
                <a16:creationId xmlns:a16="http://schemas.microsoft.com/office/drawing/2014/main" id="{DDB2E1C8-2F89-4868-8AC4-E99DEF462FF2}"/>
              </a:ext>
            </a:extLst>
          </p:cNvPr>
          <p:cNvSpPr>
            <a:spLocks xmlns:a="http://schemas.openxmlformats.org/drawingml/2006/main" noGrp="1"/>
          </p:cNvSpPr>
          <p:nvPr/>
        </p:nvSpPr>
        <p:spPr>
          <a:xfrm xmlns:a="http://schemas.openxmlformats.org/drawingml/2006/main">
            <a:off x="609600" y="21717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The current feature set and its representation</a:t>
            </a:r>
          </a:p>
        </p:txBody>
      </p:sp>
      <p:sp>
        <p:nvSpPr>
          <p:cNvPr id="7" name="">
            <a:extLst xmlns:a="http://schemas.openxmlformats.org/drawingml/2006/main">
              <a:ext uri="{FF2B5EF4-FFF2-40B4-BE49-F238E27FC236}">
                <a16:creationId xmlns:a16="http://schemas.microsoft.com/office/drawing/2014/main" id="{2985A839-3E49-47E1-A71C-FFA47CDB1449}"/>
              </a:ext>
            </a:extLst>
          </p:cNvPr>
          <p:cNvSpPr>
            <a:spLocks xmlns:a="http://schemas.openxmlformats.org/drawingml/2006/main" noGrp="1"/>
          </p:cNvSpPr>
          <p:nvPr/>
        </p:nvSpPr>
        <p:spPr>
          <a:xfrm xmlns:a="http://schemas.openxmlformats.org/drawingml/2006/main">
            <a:off x="609600" y="309562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Action</a:t>
            </a:r>
          </a:p>
        </p:txBody>
      </p:sp>
      <p:sp>
        <p:nvSpPr>
          <p:cNvPr id="8" name="">
            <a:extLst xmlns:a="http://schemas.openxmlformats.org/drawingml/2006/main">
              <a:ext uri="{FF2B5EF4-FFF2-40B4-BE49-F238E27FC236}">
                <a16:creationId xmlns:a16="http://schemas.microsoft.com/office/drawing/2014/main" id="{84D02636-1FE9-410A-BC42-9C4A4F543BCD}"/>
              </a:ext>
            </a:extLst>
          </p:cNvPr>
          <p:cNvSpPr>
            <a:spLocks xmlns:a="http://schemas.openxmlformats.org/drawingml/2006/main" noGrp="1"/>
          </p:cNvSpPr>
          <p:nvPr/>
        </p:nvSpPr>
        <p:spPr>
          <a:xfrm xmlns:a="http://schemas.openxmlformats.org/drawingml/2006/main">
            <a:off x="609600" y="3552825"/>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Keep or remove candidate features</a:t>
            </a:r>
          </a:p>
        </p:txBody>
      </p:sp>
      <p:sp>
        <p:nvSpPr>
          <p:cNvPr id="9" name="">
            <a:extLst xmlns:a="http://schemas.openxmlformats.org/drawingml/2006/main">
              <a:ext uri="{FF2B5EF4-FFF2-40B4-BE49-F238E27FC236}">
                <a16:creationId xmlns:a16="http://schemas.microsoft.com/office/drawing/2014/main" id="{B3CA22F1-1B8F-4046-AE07-C14287C6212A}"/>
              </a:ext>
            </a:extLst>
          </p:cNvPr>
          <p:cNvSpPr>
            <a:spLocks xmlns:a="http://schemas.openxmlformats.org/drawingml/2006/main" noGrp="1"/>
          </p:cNvSpPr>
          <p:nvPr/>
        </p:nvSpPr>
        <p:spPr>
          <a:xfrm xmlns:a="http://schemas.openxmlformats.org/drawingml/2006/main">
            <a:off x="609600" y="44767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Reward</a:t>
            </a:r>
          </a:p>
        </p:txBody>
      </p:sp>
      <p:sp>
        <p:nvSpPr>
          <p:cNvPr id="10" name="">
            <a:extLst xmlns:a="http://schemas.openxmlformats.org/drawingml/2006/main">
              <a:ext uri="{FF2B5EF4-FFF2-40B4-BE49-F238E27FC236}">
                <a16:creationId xmlns:a16="http://schemas.microsoft.com/office/drawing/2014/main" id="{3DDF2202-22FA-4601-B2E2-980EA4943ABB}"/>
              </a:ext>
            </a:extLst>
          </p:cNvPr>
          <p:cNvSpPr>
            <a:spLocks xmlns:a="http://schemas.openxmlformats.org/drawingml/2006/main" noGrp="1"/>
          </p:cNvSpPr>
          <p:nvPr/>
        </p:nvSpPr>
        <p:spPr>
          <a:xfrm xmlns:a="http://schemas.openxmlformats.org/drawingml/2006/main">
            <a:off x="609600" y="493395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Task performance, with optional cost penalties</a:t>
            </a:r>
          </a:p>
        </p:txBody>
      </p:sp>
    </p:spTree>
    <p:extLst>
      <p:ext uri="{BB962C8B-B14F-4D97-AF65-F5344CB8AC3E}">
        <p14:creationId xmlns:p14="http://schemas.microsoft.com/office/powerpoint/2010/main" val="1150338618"/>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D5519B-9165-4A89-9FE8-7D72EFD08B99}"/>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Reinforcement learning for generation</a:t>
            </a:r>
          </a:p>
        </p:txBody>
      </p:sp>
      <p:sp>
        <p:nvSpPr>
          <p:cNvPr id="2" name="">
            <a:extLst xmlns:a="http://schemas.openxmlformats.org/drawingml/2006/main">
              <a:ext uri="{FF2B5EF4-FFF2-40B4-BE49-F238E27FC236}">
                <a16:creationId xmlns:a16="http://schemas.microsoft.com/office/drawing/2014/main" id="{36B38692-EE97-411D-BBA3-C73C76F9471C}"/>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693E7932-88D2-41E6-ABA0-F579EEA0317A}"/>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Ying et al., Figure 2(b), p. 3. Cropped reproduction, CC BY 4.0.</a:t>
            </a:r>
          </a:p>
        </p:txBody>
      </p:sp>
      <p:pic>
        <p:nvPicPr>
          <p:cNvPr id="4" name="">
            <a:extLst xmlns:a="http://schemas.openxmlformats.org/drawingml/2006/main">
              <a:ext uri="{FF2B5EF4-FFF2-40B4-BE49-F238E27FC236}">
                <a16:creationId xmlns:a16="http://schemas.microsoft.com/office/drawing/2014/main" id="{D6FDB205-01F1-491D-915E-C9A6B4448E04}"/>
              </a:ext>
            </a:extLst>
          </p:cNvPr>
          <p:cNvPicPr>
            <a:picLocks xmlns:a="http://schemas.openxmlformats.org/drawingml/2006/main" noChangeAspect="1"/>
          </p:cNvPicPr>
          <p:nvPr/>
        </p:nvPicPr>
        <p:blipFill>
          <a:blip xmlns:r="http://schemas.openxmlformats.org/officeDocument/2006/relationships" xmlns:a="http://schemas.openxmlformats.org/drawingml/2006/main" r:embed="R83656481fffd4e91"/>
          <a:stretch xmlns:a="http://schemas.openxmlformats.org/drawingml/2006/main"/>
        </p:blipFill>
        <p:spPr>
          <a:xfrm xmlns:a="http://schemas.openxmlformats.org/drawingml/2006/main">
            <a:off x="7110337" y="1524000"/>
            <a:ext cx="4124476"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417EA43-29AA-4E5D-9FB5-87AAE200B26B}"/>
              </a:ext>
            </a:extLst>
          </p:cNvPr>
          <p:cNvSpPr>
            <a:spLocks xmlns:a="http://schemas.openxmlformats.org/drawingml/2006/main" noGrp="1"/>
          </p:cNvSpPr>
          <p:nvPr/>
        </p:nvSpPr>
        <p:spPr>
          <a:xfrm xmlns:a="http://schemas.openxmlformats.org/drawingml/2006/main">
            <a:off x="609600" y="17145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Feature choices</a:t>
            </a:r>
          </a:p>
        </p:txBody>
      </p:sp>
      <p:sp>
        <p:nvSpPr>
          <p:cNvPr id="6" name="">
            <a:extLst xmlns:a="http://schemas.openxmlformats.org/drawingml/2006/main">
              <a:ext uri="{FF2B5EF4-FFF2-40B4-BE49-F238E27FC236}">
                <a16:creationId xmlns:a16="http://schemas.microsoft.com/office/drawing/2014/main" id="{4952B6F1-E868-496F-89DD-D9FBF933A36A}"/>
              </a:ext>
            </a:extLst>
          </p:cNvPr>
          <p:cNvSpPr>
            <a:spLocks xmlns:a="http://schemas.openxmlformats.org/drawingml/2006/main" noGrp="1"/>
          </p:cNvSpPr>
          <p:nvPr/>
        </p:nvSpPr>
        <p:spPr>
          <a:xfrm xmlns:a="http://schemas.openxmlformats.org/drawingml/2006/main">
            <a:off x="609600" y="21717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Total spending and account age</a:t>
            </a:r>
          </a:p>
        </p:txBody>
      </p:sp>
      <p:sp>
        <p:nvSpPr>
          <p:cNvPr id="7" name="">
            <a:extLst xmlns:a="http://schemas.openxmlformats.org/drawingml/2006/main">
              <a:ext uri="{FF2B5EF4-FFF2-40B4-BE49-F238E27FC236}">
                <a16:creationId xmlns:a16="http://schemas.microsoft.com/office/drawing/2014/main" id="{2774C0E5-F03C-427A-BC10-68CE87F44C65}"/>
              </a:ext>
            </a:extLst>
          </p:cNvPr>
          <p:cNvSpPr>
            <a:spLocks xmlns:a="http://schemas.openxmlformats.org/drawingml/2006/main" noGrp="1"/>
          </p:cNvSpPr>
          <p:nvPr/>
        </p:nvSpPr>
        <p:spPr>
          <a:xfrm xmlns:a="http://schemas.openxmlformats.org/drawingml/2006/main">
            <a:off x="609600" y="309562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Operation choice</a:t>
            </a:r>
          </a:p>
        </p:txBody>
      </p:sp>
      <p:sp>
        <p:nvSpPr>
          <p:cNvPr id="8" name="">
            <a:extLst xmlns:a="http://schemas.openxmlformats.org/drawingml/2006/main">
              <a:ext uri="{FF2B5EF4-FFF2-40B4-BE49-F238E27FC236}">
                <a16:creationId xmlns:a16="http://schemas.microsoft.com/office/drawing/2014/main" id="{F2BF5938-D0C8-4E3D-A77B-5F97DD860EDB}"/>
              </a:ext>
            </a:extLst>
          </p:cNvPr>
          <p:cNvSpPr>
            <a:spLocks xmlns:a="http://schemas.openxmlformats.org/drawingml/2006/main" noGrp="1"/>
          </p:cNvSpPr>
          <p:nvPr/>
        </p:nvSpPr>
        <p:spPr>
          <a:xfrm xmlns:a="http://schemas.openxmlformats.org/drawingml/2006/main">
            <a:off x="609600" y="3552825"/>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Division produces spending per month</a:t>
            </a:r>
          </a:p>
        </p:txBody>
      </p:sp>
      <p:sp>
        <p:nvSpPr>
          <p:cNvPr id="9" name="">
            <a:extLst xmlns:a="http://schemas.openxmlformats.org/drawingml/2006/main">
              <a:ext uri="{FF2B5EF4-FFF2-40B4-BE49-F238E27FC236}">
                <a16:creationId xmlns:a16="http://schemas.microsoft.com/office/drawing/2014/main" id="{0EEE24EA-7DA8-413F-94B5-A23C3E462C0B}"/>
              </a:ext>
            </a:extLst>
          </p:cNvPr>
          <p:cNvSpPr>
            <a:spLocks xmlns:a="http://schemas.openxmlformats.org/drawingml/2006/main" noGrp="1"/>
          </p:cNvSpPr>
          <p:nvPr/>
        </p:nvSpPr>
        <p:spPr>
          <a:xfrm xmlns:a="http://schemas.openxmlformats.org/drawingml/2006/main">
            <a:off x="609600" y="44767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Feedback</a:t>
            </a:r>
          </a:p>
        </p:txBody>
      </p:sp>
      <p:sp>
        <p:nvSpPr>
          <p:cNvPr id="10" name="">
            <a:extLst xmlns:a="http://schemas.openxmlformats.org/drawingml/2006/main">
              <a:ext uri="{FF2B5EF4-FFF2-40B4-BE49-F238E27FC236}">
                <a16:creationId xmlns:a16="http://schemas.microsoft.com/office/drawing/2014/main" id="{3A6A922B-B44E-4B26-9669-D72368484C4B}"/>
              </a:ext>
            </a:extLst>
          </p:cNvPr>
          <p:cNvSpPr>
            <a:spLocks xmlns:a="http://schemas.openxmlformats.org/drawingml/2006/main" noGrp="1"/>
          </p:cNvSpPr>
          <p:nvPr/>
        </p:nvSpPr>
        <p:spPr>
          <a:xfrm xmlns:a="http://schemas.openxmlformats.org/drawingml/2006/main">
            <a:off x="609600" y="493395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Evaluate the result and guide later choices</a:t>
            </a:r>
          </a:p>
        </p:txBody>
      </p:sp>
    </p:spTree>
    <p:extLst>
      <p:ext uri="{BB962C8B-B14F-4D97-AF65-F5344CB8AC3E}">
        <p14:creationId xmlns:p14="http://schemas.microsoft.com/office/powerpoint/2010/main" val="1597243273"/>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B515A3-BF3E-4456-82E1-55FB9351DA5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Generative feature selection</a:t>
            </a:r>
          </a:p>
        </p:txBody>
      </p:sp>
      <p:sp>
        <p:nvSpPr>
          <p:cNvPr id="2" name="">
            <a:extLst xmlns:a="http://schemas.openxmlformats.org/drawingml/2006/main">
              <a:ext uri="{FF2B5EF4-FFF2-40B4-BE49-F238E27FC236}">
                <a16:creationId xmlns:a16="http://schemas.microsoft.com/office/drawing/2014/main" id="{68EAEBB7-5714-49CF-AE0C-83102AA1ABA3}"/>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F1B0CFCE-13D2-4430-847A-C89228496378}"/>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Ying et al., Figure 3, p. 4. Cropped reproduction, CC BY 4.0.</a:t>
            </a:r>
          </a:p>
        </p:txBody>
      </p:sp>
      <p:pic>
        <p:nvPicPr>
          <p:cNvPr id="4" name="">
            <a:extLst xmlns:a="http://schemas.openxmlformats.org/drawingml/2006/main">
              <a:ext uri="{FF2B5EF4-FFF2-40B4-BE49-F238E27FC236}">
                <a16:creationId xmlns:a16="http://schemas.microsoft.com/office/drawing/2014/main" id="{BEA601E2-A6DD-476C-9500-586780001519}"/>
              </a:ext>
            </a:extLst>
          </p:cNvPr>
          <p:cNvPicPr>
            <a:picLocks xmlns:a="http://schemas.openxmlformats.org/drawingml/2006/main" noChangeAspect="1"/>
          </p:cNvPicPr>
          <p:nvPr/>
        </p:nvPicPr>
        <p:blipFill>
          <a:blip xmlns:r="http://schemas.openxmlformats.org/officeDocument/2006/relationships" xmlns:a="http://schemas.openxmlformats.org/drawingml/2006/main" r:embed="R16351da86be841cf"/>
          <a:stretch xmlns:a="http://schemas.openxmlformats.org/drawingml/2006/main"/>
        </p:blipFill>
        <p:spPr>
          <a:xfrm xmlns:a="http://schemas.openxmlformats.org/drawingml/2006/main">
            <a:off x="1436218" y="1581150"/>
            <a:ext cx="9281463"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FE688BD-EB90-47D3-990E-B3DABD9EA367}"/>
              </a:ext>
            </a:extLst>
          </p:cNvPr>
          <p:cNvSpPr>
            <a:spLocks xmlns:a="http://schemas.openxmlformats.org/drawingml/2006/main" noGrp="1"/>
          </p:cNvSpPr>
          <p:nvPr/>
        </p:nvSpPr>
        <p:spPr>
          <a:xfrm xmlns:a="http://schemas.openxmlformats.org/drawingml/2006/main">
            <a:off x="609600" y="5095875"/>
            <a:ext cx="1076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DejaVu Sans"/>
                <a:ea typeface="DejaVu Sans"/>
                <a:cs typeface="DejaVu Sans"/>
              </a:defRPr>
            </a:defPPr>
          </a:lstStyle>
          <a:p xmlns:a="http://schemas.openxmlformats.org/drawingml/2006/main">
            <a:pPr>
              <a:defRPr sz="2250" b="1">
                <a:solidFill>
                  <a:srgbClr val="087F8C"/>
                </a:solidFill>
                <a:latin typeface="DejaVu Sans"/>
                <a:ea typeface="DejaVu Sans"/>
                <a:cs typeface="DejaVu Sans"/>
              </a:defRPr>
            </a:pPr>
            <a:r>
              <a:rPr sz="2250" b="1">
                <a:solidFill>
                  <a:srgbClr val="087F8C"/>
                </a:solidFill>
                <a:latin typeface="DejaVu Sans"/>
                <a:ea typeface="DejaVu Sans"/>
                <a:cs typeface="DejaVu Sans"/>
              </a:rPr>
              <a:t>Encode experience. Search the learned space. Decode a candidate.</a:t>
            </a:r>
          </a:p>
        </p:txBody>
      </p:sp>
      <p:sp>
        <p:nvSpPr>
          <p:cNvPr id="6" name="">
            <a:extLst xmlns:a="http://schemas.openxmlformats.org/drawingml/2006/main">
              <a:ext uri="{FF2B5EF4-FFF2-40B4-BE49-F238E27FC236}">
                <a16:creationId xmlns:a16="http://schemas.microsoft.com/office/drawing/2014/main" id="{45B306A3-1DAC-4F85-A01F-CC4EFAC61FF9}"/>
              </a:ext>
            </a:extLst>
          </p:cNvPr>
          <p:cNvSpPr>
            <a:spLocks xmlns:a="http://schemas.openxmlformats.org/drawingml/2006/main" noGrp="1"/>
          </p:cNvSpPr>
          <p:nvPr/>
        </p:nvSpPr>
        <p:spPr>
          <a:xfrm xmlns:a="http://schemas.openxmlformats.org/drawingml/2006/main">
            <a:off x="609600" y="58578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172B40"/>
                </a:solidFill>
                <a:latin typeface="DejaVu Sans"/>
                <a:ea typeface="DejaVu Sans"/>
                <a:cs typeface="DejaVu Sans"/>
              </a:defRPr>
            </a:defPPr>
          </a:lstStyle>
          <a:p xmlns:a="http://schemas.openxmlformats.org/drawingml/2006/main">
            <a:pPr>
              <a:defRPr sz="1950" b="0">
                <a:solidFill>
                  <a:srgbClr val="172B40"/>
                </a:solidFill>
                <a:latin typeface="DejaVu Sans"/>
                <a:ea typeface="DejaVu Sans"/>
                <a:cs typeface="DejaVu Sans"/>
              </a:defRPr>
            </a:pPr>
            <a:r>
              <a:rPr sz="1950" b="0">
                <a:solidFill>
                  <a:srgbClr val="172B40"/>
                </a:solidFill>
                <a:latin typeface="DejaVu Sans"/>
                <a:ea typeface="DejaVu Sans"/>
                <a:cs typeface="DejaVu Sans"/>
              </a:rPr>
              <a:t>The predicted utility still needs real validation.</a:t>
            </a:r>
          </a:p>
        </p:txBody>
      </p:sp>
    </p:spTree>
    <p:extLst>
      <p:ext uri="{BB962C8B-B14F-4D97-AF65-F5344CB8AC3E}">
        <p14:creationId xmlns:p14="http://schemas.microsoft.com/office/powerpoint/2010/main" val="25506100"/>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E76BA7-8221-467D-B312-778594447795}"/>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Generative transformations and LLMs</a:t>
            </a:r>
          </a:p>
        </p:txBody>
      </p:sp>
      <p:sp>
        <p:nvSpPr>
          <p:cNvPr id="2" name="">
            <a:extLst xmlns:a="http://schemas.openxmlformats.org/drawingml/2006/main">
              <a:ext uri="{FF2B5EF4-FFF2-40B4-BE49-F238E27FC236}">
                <a16:creationId xmlns:a16="http://schemas.microsoft.com/office/drawing/2014/main" id="{D644E173-C5B2-43B1-A515-4C33FA34DB21}"/>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DAAFFA37-816E-4014-9C25-F6ADA198D783}"/>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Paper: Section 4.2, p. 4.</a:t>
            </a:r>
          </a:p>
        </p:txBody>
      </p:sp>
      <p:sp>
        <p:nvSpPr>
          <p:cNvPr id="4" name="">
            <a:extLst xmlns:a="http://schemas.openxmlformats.org/drawingml/2006/main">
              <a:ext uri="{FF2B5EF4-FFF2-40B4-BE49-F238E27FC236}">
                <a16:creationId xmlns:a16="http://schemas.microsoft.com/office/drawing/2014/main" id="{10C84FC5-4F3A-44C3-992B-3F12DD3B8EA7}"/>
              </a:ext>
            </a:extLst>
          </p:cNvPr>
          <p:cNvSpPr>
            <a:spLocks xmlns:a="http://schemas.openxmlformats.org/drawingml/2006/main" noGrp="1"/>
          </p:cNvSpPr>
          <p:nvPr/>
        </p:nvSpPr>
        <p:spPr>
          <a:xfrm xmlns:a="http://schemas.openxmlformats.org/drawingml/2006/main">
            <a:off x="609600" y="161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Experience can guide new proposals</a:t>
            </a:r>
          </a:p>
        </p:txBody>
      </p:sp>
      <p:sp>
        <p:nvSpPr>
          <p:cNvPr id="5" name="">
            <a:extLst xmlns:a="http://schemas.openxmlformats.org/drawingml/2006/main">
              <a:ext uri="{FF2B5EF4-FFF2-40B4-BE49-F238E27FC236}">
                <a16:creationId xmlns:a16="http://schemas.microsoft.com/office/drawing/2014/main" id="{8B814034-835D-4BB7-A1C8-EAD91DE2FFE0}"/>
              </a:ext>
            </a:extLst>
          </p:cNvPr>
          <p:cNvSpPr>
            <a:spLocks xmlns:a="http://schemas.openxmlformats.org/drawingml/2006/main" noGrp="1"/>
          </p:cNvSpPr>
          <p:nvPr/>
        </p:nvSpPr>
        <p:spPr>
          <a:xfrm xmlns:a="http://schemas.openxmlformats.org/drawingml/2006/main">
            <a:off x="609600" y="20764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RL can collect transformation examples for a generative model.</a:t>
            </a:r>
          </a:p>
        </p:txBody>
      </p:sp>
      <p:sp>
        <p:nvSpPr>
          <p:cNvPr id="6" name="">
            <a:extLst xmlns:a="http://schemas.openxmlformats.org/drawingml/2006/main">
              <a:ext uri="{FF2B5EF4-FFF2-40B4-BE49-F238E27FC236}">
                <a16:creationId xmlns:a16="http://schemas.microsoft.com/office/drawing/2014/main" id="{76EC0FB2-81F9-41DF-BB9B-C14B380861A3}"/>
              </a:ext>
            </a:extLst>
          </p:cNvPr>
          <p:cNvSpPr>
            <a:spLocks xmlns:a="http://schemas.openxmlformats.org/drawingml/2006/main" noGrp="1"/>
          </p:cNvSpPr>
          <p:nvPr/>
        </p:nvSpPr>
        <p:spPr>
          <a:xfrm xmlns:a="http://schemas.openxmlformats.org/drawingml/2006/main">
            <a:off x="609600" y="3143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Labels change the available feedback</a:t>
            </a:r>
          </a:p>
        </p:txBody>
      </p:sp>
      <p:sp>
        <p:nvSpPr>
          <p:cNvPr id="7" name="">
            <a:extLst xmlns:a="http://schemas.openxmlformats.org/drawingml/2006/main">
              <a:ext uri="{FF2B5EF4-FFF2-40B4-BE49-F238E27FC236}">
                <a16:creationId xmlns:a16="http://schemas.microsoft.com/office/drawing/2014/main" id="{DF8EAB78-5115-4ECD-B229-28299E6232AD}"/>
              </a:ext>
            </a:extLst>
          </p:cNvPr>
          <p:cNvSpPr>
            <a:spLocks xmlns:a="http://schemas.openxmlformats.org/drawingml/2006/main" noGrp="1"/>
          </p:cNvSpPr>
          <p:nvPr/>
        </p:nvSpPr>
        <p:spPr>
          <a:xfrm xmlns:a="http://schemas.openxmlformats.org/drawingml/2006/main">
            <a:off x="609600" y="36004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Unsupervised methods can use graph-based objectives.</a:t>
            </a:r>
          </a:p>
        </p:txBody>
      </p:sp>
      <p:sp>
        <p:nvSpPr>
          <p:cNvPr id="8" name="">
            <a:extLst xmlns:a="http://schemas.openxmlformats.org/drawingml/2006/main">
              <a:ext uri="{FF2B5EF4-FFF2-40B4-BE49-F238E27FC236}">
                <a16:creationId xmlns:a16="http://schemas.microsoft.com/office/drawing/2014/main" id="{0A753B5C-FF4D-4E09-9A90-445FEF26922B}"/>
              </a:ext>
            </a:extLst>
          </p:cNvPr>
          <p:cNvSpPr>
            <a:spLocks xmlns:a="http://schemas.openxmlformats.org/drawingml/2006/main" noGrp="1"/>
          </p:cNvSpPr>
          <p:nvPr/>
        </p:nvSpPr>
        <p:spPr>
          <a:xfrm xmlns:a="http://schemas.openxmlformats.org/drawingml/2006/main">
            <a:off x="609600" y="4667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LLMs can propose transformations</a:t>
            </a:r>
          </a:p>
        </p:txBody>
      </p:sp>
      <p:sp>
        <p:nvSpPr>
          <p:cNvPr id="9" name="">
            <a:extLst xmlns:a="http://schemas.openxmlformats.org/drawingml/2006/main">
              <a:ext uri="{FF2B5EF4-FFF2-40B4-BE49-F238E27FC236}">
                <a16:creationId xmlns:a16="http://schemas.microsoft.com/office/drawing/2014/main" id="{B3D70F1A-9111-4A89-BB9D-D20DCFE6A320}"/>
              </a:ext>
            </a:extLst>
          </p:cNvPr>
          <p:cNvSpPr>
            <a:spLocks xmlns:a="http://schemas.openxmlformats.org/drawingml/2006/main" noGrp="1"/>
          </p:cNvSpPr>
          <p:nvPr/>
        </p:nvSpPr>
        <p:spPr>
          <a:xfrm xmlns:a="http://schemas.openxmlformats.org/drawingml/2006/main">
            <a:off x="609600" y="51244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Each proposal still needs semantic checks and task validation.</a:t>
            </a:r>
          </a:p>
        </p:txBody>
      </p:sp>
    </p:spTree>
    <p:extLst>
      <p:ext uri="{BB962C8B-B14F-4D97-AF65-F5344CB8AC3E}">
        <p14:creationId xmlns:p14="http://schemas.microsoft.com/office/powerpoint/2010/main" val="585364216"/>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1CA52A-D673-42F8-A4B6-D84497A04C7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Tradeoffs and limits of the evidence</a:t>
            </a:r>
          </a:p>
        </p:txBody>
      </p:sp>
      <p:sp>
        <p:nvSpPr>
          <p:cNvPr id="2" name="">
            <a:extLst xmlns:a="http://schemas.openxmlformats.org/drawingml/2006/main">
              <a:ext uri="{FF2B5EF4-FFF2-40B4-BE49-F238E27FC236}">
                <a16:creationId xmlns:a16="http://schemas.microsoft.com/office/drawing/2014/main" id="{C23CF2A9-CECE-4565-BABC-5D66769BF7E4}"/>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DC6E0688-CEB8-4646-B77C-EE05ACCCA657}"/>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Paper: Section 5, p. 5. Qualitative comparison.</a:t>
            </a:r>
          </a:p>
        </p:txBody>
      </p:sp>
      <p:graphicFrame>
        <p:nvGraphicFramePr>
          <p:cNvPr id="4" name="">
            <a:extLst xmlns:a="http://schemas.openxmlformats.org/drawingml/2006/main">
              <a:ext uri="{FF2B5EF4-FFF2-40B4-BE49-F238E27FC236}">
                <a16:creationId xmlns:a16="http://schemas.microsoft.com/office/drawing/2014/main" id="{AFBC5915-B586-4B79-83EB-67FFF1F04738}"/>
              </a:ext>
            </a:extLst>
          </p:cNvPr>
          <p:cNvGraphicFramePr/>
          <p:nvPr/>
        </p:nvGraphicFramePr>
        <p:xfrm>
          <a:off xmlns:a="http://schemas.openxmlformats.org/drawingml/2006/main" x="609600" y="1714500"/>
          <a:ext xmlns:a="http://schemas.openxmlformats.org/drawingml/2006/main" cx="10972800" cy="2571750"/>
        </p:xfrm>
        <a:graphic xmlns:a="http://schemas.openxmlformats.org/drawingml/2006/main">
          <a:graphicData uri="http://schemas.openxmlformats.org/drawingml/2006/table">
            <a:tbl>
              <a:tblPr/>
              <a:tblGrid>
                <a:gridCol w="2571750"/>
                <a:gridCol w="4200525"/>
                <a:gridCol w="4200525"/>
              </a:tblGrid>
              <a:tr h="857250">
                <a:tc>
                  <a:txBody>
                    <a:bodyPr lIns="142875" tIns="142875" rIns="142875" bIns="142875"/>
                    <a:lstStyle/>
                    <a:p>
                      <a:r>
                        <a:rPr sz="1800" b="1">
                          <a:solidFill>
                            <a:srgbClr val="FFFFFF"/>
                          </a:solidFill>
                          <a:latin typeface="DejaVu Sans"/>
                          <a:ea typeface="DejaVu Sans"/>
                          <a:cs typeface="DejaVu Sans"/>
                        </a:rPr>
                        <a:t>Approach</a:t>
                      </a:r>
                    </a:p>
                  </a:txBody>
                  <a:tcPr marL="91440" marR="91440" marT="45720" marB="4572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c>
                  <a:txBody>
                    <a:bodyPr lIns="142875" tIns="142875" rIns="142875" bIns="142875"/>
                    <a:lstStyle/>
                    <a:p>
                      <a:r>
                        <a:rPr sz="1800" b="1">
                          <a:solidFill>
                            <a:srgbClr val="FFFFFF"/>
                          </a:solidFill>
                          <a:latin typeface="DejaVu Sans"/>
                          <a:ea typeface="DejaVu Sans"/>
                          <a:cs typeface="DejaVu Sans"/>
                        </a:rPr>
                        <a:t>Potential benefit</a:t>
                      </a:r>
                    </a:p>
                  </a:txBody>
                  <a:tcPr marL="91440" marR="91440" marT="45720" marB="45720">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c>
                  <a:txBody>
                    <a:bodyPr lIns="142875" tIns="142875" rIns="142875" bIns="142875"/>
                    <a:lstStyle/>
                    <a:p>
                      <a:r>
                        <a:rPr sz="1800" b="1">
                          <a:solidFill>
                            <a:srgbClr val="FFFFFF"/>
                          </a:solidFill>
                          <a:latin typeface="DejaVu Sans"/>
                          <a:ea typeface="DejaVu Sans"/>
                          <a:cs typeface="DejaVu Sans"/>
                        </a:rPr>
                        <a:t>Main concern</a:t>
                      </a:r>
                    </a:p>
                  </a:txBody>
                  <a:tcPr marL="91440" marR="91440" marT="45720" marB="45720">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r>
              <a:tr h="857250">
                <a:tc>
                  <a:txBody>
                    <a:bodyPr lIns="142875" tIns="142875" rIns="142875" bIns="142875"/>
                    <a:lstStyle/>
                    <a:p>
                      <a:r>
                        <a:rPr sz="1800" b="0">
                          <a:solidFill>
                            <a:srgbClr val="172B40"/>
                          </a:solidFill>
                          <a:latin typeface="DejaVu Sans"/>
                          <a:ea typeface="DejaVu Sans"/>
                          <a:cs typeface="DejaVu Sans"/>
                        </a:rPr>
                        <a:t>Reinforcement learning</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Search guided by task feedback</a:t>
                      </a:r>
                    </a:p>
                  </a:txBody>
                  <a:tcPr marL="91440" marR="91440" marT="45720" marB="45720">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Reward design and search cost</a:t>
                      </a:r>
                    </a:p>
                  </a:txBody>
                  <a:tcPr marL="91440" marR="91440" marT="45720" marB="45720">
                    <a:lnR w="9525">
                      <a:solidFill>
                        <a:srgbClr val="D8E1E7"/>
                      </a:solidFill>
                      <a:prstDash val="solid"/>
                    </a:lnR>
                    <a:lnB w="9525">
                      <a:solidFill>
                        <a:srgbClr val="D8E1E7"/>
                      </a:solidFill>
                      <a:prstDash val="solid"/>
                    </a:lnB>
                    <a:solidFill>
                      <a:srgbClr val="FFFFFF"/>
                    </a:solidFill>
                  </a:tcPr>
                </a:tc>
              </a:tr>
              <a:tr h="857250">
                <a:tc>
                  <a:txBody>
                    <a:bodyPr lIns="142875" tIns="142875" rIns="142875" bIns="142875"/>
                    <a:lstStyle/>
                    <a:p>
                      <a:r>
                        <a:rPr sz="1800" b="0">
                          <a:solidFill>
                            <a:srgbClr val="172B40"/>
                          </a:solidFill>
                          <a:latin typeface="DejaVu Sans"/>
                          <a:ea typeface="DejaVu Sans"/>
                          <a:cs typeface="DejaVu Sans"/>
                        </a:rPr>
                        <a:t>Generative methods</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EDF3F5"/>
                    </a:solidFill>
                  </a:tcPr>
                </a:tc>
                <a:tc>
                  <a:txBody>
                    <a:bodyPr lIns="142875" tIns="142875" rIns="142875" bIns="142875"/>
                    <a:lstStyle/>
                    <a:p>
                      <a:r>
                        <a:rPr sz="1800" b="0">
                          <a:solidFill>
                            <a:srgbClr val="172B40"/>
                          </a:solidFill>
                          <a:latin typeface="DejaVu Sans"/>
                          <a:ea typeface="DejaVu Sans"/>
                          <a:cs typeface="DejaVu Sans"/>
                        </a:rPr>
                        <a:t>Proposals from learned experience</a:t>
                      </a:r>
                    </a:p>
                  </a:txBody>
                  <a:tcPr marL="91440" marR="91440" marT="45720" marB="45720">
                    <a:lnR w="9525">
                      <a:solidFill>
                        <a:srgbClr val="D8E1E7"/>
                      </a:solidFill>
                      <a:prstDash val="solid"/>
                    </a:lnR>
                    <a:lnB w="9525">
                      <a:solidFill>
                        <a:srgbClr val="D8E1E7"/>
                      </a:solidFill>
                      <a:prstDash val="solid"/>
                    </a:lnB>
                    <a:solidFill>
                      <a:srgbClr val="EDF3F5"/>
                    </a:solidFill>
                  </a:tcPr>
                </a:tc>
                <a:tc>
                  <a:txBody>
                    <a:bodyPr lIns="142875" tIns="142875" rIns="142875" bIns="142875"/>
                    <a:lstStyle/>
                    <a:p>
                      <a:r>
                        <a:rPr sz="1800" b="0">
                          <a:solidFill>
                            <a:srgbClr val="172B40"/>
                          </a:solidFill>
                          <a:latin typeface="DejaVu Sans"/>
                          <a:ea typeface="DejaVu Sans"/>
                          <a:cs typeface="DejaVu Sans"/>
                        </a:rPr>
                        <a:t>Evaluator quality and training cost</a:t>
                      </a:r>
                    </a:p>
                  </a:txBody>
                  <a:tcPr marL="91440" marR="91440" marT="45720" marB="45720">
                    <a:lnR w="9525">
                      <a:solidFill>
                        <a:srgbClr val="D8E1E7"/>
                      </a:solidFill>
                      <a:prstDash val="solid"/>
                    </a:lnR>
                    <a:lnB w="9525">
                      <a:solidFill>
                        <a:srgbClr val="D8E1E7"/>
                      </a:solidFill>
                      <a:prstDash val="solid"/>
                    </a:lnB>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10EED047-4E76-4BCB-80C6-1B3EA762CDF2}"/>
              </a:ext>
            </a:extLst>
          </p:cNvPr>
          <p:cNvSpPr>
            <a:spLocks xmlns:a="http://schemas.openxmlformats.org/drawingml/2006/main" noGrp="1"/>
          </p:cNvSpPr>
          <p:nvPr/>
        </p:nvSpPr>
        <p:spPr>
          <a:xfrm xmlns:a="http://schemas.openxmlformats.org/drawingml/2006/main">
            <a:off x="609600" y="4772025"/>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87F8C"/>
                </a:solidFill>
                <a:latin typeface="DejaVu Sans"/>
                <a:ea typeface="DejaVu Sans"/>
                <a:cs typeface="DejaVu Sans"/>
              </a:defRPr>
            </a:defPPr>
          </a:lstStyle>
          <a:p xmlns:a="http://schemas.openxmlformats.org/drawingml/2006/main">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The survey offers a research map.</a:t>
            </a:r>
          </a:p>
        </p:txBody>
      </p:sp>
      <p:sp>
        <p:nvSpPr>
          <p:cNvPr id="6" name="">
            <a:extLst xmlns:a="http://schemas.openxmlformats.org/drawingml/2006/main">
              <a:ext uri="{FF2B5EF4-FFF2-40B4-BE49-F238E27FC236}">
                <a16:creationId xmlns:a16="http://schemas.microsoft.com/office/drawing/2014/main" id="{FF8AF170-02A6-4F35-BC4C-46FF55DCDCB9}"/>
              </a:ext>
            </a:extLst>
          </p:cNvPr>
          <p:cNvSpPr>
            <a:spLocks xmlns:a="http://schemas.openxmlformats.org/drawingml/2006/main" noGrp="1"/>
          </p:cNvSpPr>
          <p:nvPr/>
        </p:nvSpPr>
        <p:spPr>
          <a:xfrm xmlns:a="http://schemas.openxmlformats.org/drawingml/2006/main">
            <a:off x="609600" y="5381625"/>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2B40"/>
                </a:solidFill>
                <a:latin typeface="DejaVu Sans"/>
                <a:ea typeface="DejaVu Sans"/>
                <a:cs typeface="DejaVu Sans"/>
              </a:defRPr>
            </a:defPPr>
          </a:lstStyle>
          <a:p xmlns:a="http://schemas.openxmlformats.org/drawingml/2006/main">
            <a:pPr>
              <a:defRPr sz="2100" b="0">
                <a:solidFill>
                  <a:srgbClr val="172B40"/>
                </a:solidFill>
                <a:latin typeface="DejaVu Sans"/>
                <a:ea typeface="DejaVu Sans"/>
                <a:cs typeface="DejaVu Sans"/>
              </a:defRPr>
            </a:pPr>
            <a:r>
              <a:rPr sz="2100" b="0">
                <a:solidFill>
                  <a:srgbClr val="172B40"/>
                </a:solidFill>
                <a:latin typeface="DejaVu Sans"/>
                <a:ea typeface="DejaVu Sans"/>
                <a:cs typeface="DejaVu Sans"/>
              </a:rPr>
              <a:t>It reports no new common benchmark or quantitative ablation study.</a:t>
            </a:r>
          </a:p>
        </p:txBody>
      </p:sp>
    </p:spTree>
    <p:extLst>
      <p:ext uri="{BB962C8B-B14F-4D97-AF65-F5344CB8AC3E}">
        <p14:creationId xmlns:p14="http://schemas.microsoft.com/office/powerpoint/2010/main" val="2126563258"/>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7C5464-2D37-4DD0-827D-2AD376E91CC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Proposed evaluation and ablations</a:t>
            </a:r>
          </a:p>
        </p:txBody>
      </p:sp>
      <p:sp>
        <p:nvSpPr>
          <p:cNvPr id="2" name="">
            <a:extLst xmlns:a="http://schemas.openxmlformats.org/drawingml/2006/main">
              <a:ext uri="{FF2B5EF4-FFF2-40B4-BE49-F238E27FC236}">
                <a16:creationId xmlns:a16="http://schemas.microsoft.com/office/drawing/2014/main" id="{23219B41-D0EC-4E53-8F5D-8DBAA40DA577}"/>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09</a:t>
            </a:r>
          </a:p>
        </p:txBody>
      </p:sp>
      <p:sp>
        <p:nvSpPr>
          <p:cNvPr id="3" name="">
            <a:extLst xmlns:a="http://schemas.openxmlformats.org/drawingml/2006/main">
              <a:ext uri="{FF2B5EF4-FFF2-40B4-BE49-F238E27FC236}">
                <a16:creationId xmlns:a16="http://schemas.microsoft.com/office/drawing/2014/main" id="{56045762-5AAA-4C3F-84B7-418C07262471}"/>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Presenter analysis. These are proposed experiments, not reported results.</a:t>
            </a:r>
          </a:p>
        </p:txBody>
      </p:sp>
      <p:graphicFrame>
        <p:nvGraphicFramePr>
          <p:cNvPr id="4" name="">
            <a:extLst xmlns:a="http://schemas.openxmlformats.org/drawingml/2006/main">
              <a:ext uri="{FF2B5EF4-FFF2-40B4-BE49-F238E27FC236}">
                <a16:creationId xmlns:a16="http://schemas.microsoft.com/office/drawing/2014/main" id="{3555373D-6CFB-44D5-B1C5-65DB67D1302B}"/>
              </a:ext>
            </a:extLst>
          </p:cNvPr>
          <p:cNvGraphicFramePr/>
          <p:nvPr/>
        </p:nvGraphicFramePr>
        <p:xfrm>
          <a:off xmlns:a="http://schemas.openxmlformats.org/drawingml/2006/main" x="609600" y="1600200"/>
          <a:ext xmlns:a="http://schemas.openxmlformats.org/drawingml/2006/main" cx="10972800" cy="2714625"/>
        </p:xfrm>
        <a:graphic xmlns:a="http://schemas.openxmlformats.org/drawingml/2006/main">
          <a:graphicData uri="http://schemas.openxmlformats.org/drawingml/2006/table">
            <a:tbl>
              <a:tblPr/>
              <a:tblGrid>
                <a:gridCol w="3810000"/>
                <a:gridCol w="7162800"/>
              </a:tblGrid>
              <a:tr h="678656">
                <a:tc>
                  <a:txBody>
                    <a:bodyPr lIns="142875" tIns="142875" rIns="142875" bIns="142875"/>
                    <a:lstStyle/>
                    <a:p>
                      <a:r>
                        <a:rPr sz="1800" b="1">
                          <a:solidFill>
                            <a:srgbClr val="FFFFFF"/>
                          </a:solidFill>
                          <a:latin typeface="DejaVu Sans"/>
                          <a:ea typeface="DejaVu Sans"/>
                          <a:cs typeface="DejaVu Sans"/>
                        </a:rPr>
                        <a:t>Measure</a:t>
                      </a:r>
                    </a:p>
                  </a:txBody>
                  <a:tcPr marL="91440" marR="91440" marT="45720" marB="4572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c>
                  <a:txBody>
                    <a:bodyPr lIns="142875" tIns="142875" rIns="142875" bIns="142875"/>
                    <a:lstStyle/>
                    <a:p>
                      <a:r>
                        <a:rPr sz="1800" b="1">
                          <a:solidFill>
                            <a:srgbClr val="FFFFFF"/>
                          </a:solidFill>
                          <a:latin typeface="DejaVu Sans"/>
                          <a:ea typeface="DejaVu Sans"/>
                          <a:cs typeface="DejaVu Sans"/>
                        </a:rPr>
                        <a:t>Purpose</a:t>
                      </a:r>
                    </a:p>
                  </a:txBody>
                  <a:tcPr marL="91440" marR="91440" marT="45720" marB="45720">
                    <a:lnR w="9525">
                      <a:solidFill>
                        <a:srgbClr val="D8E1E7"/>
                      </a:solidFill>
                      <a:prstDash val="solid"/>
                    </a:lnR>
                    <a:lnT w="9525">
                      <a:solidFill>
                        <a:srgbClr val="D8E1E7"/>
                      </a:solidFill>
                      <a:prstDash val="solid"/>
                    </a:lnT>
                    <a:lnB w="9525">
                      <a:solidFill>
                        <a:srgbClr val="D8E1E7"/>
                      </a:solidFill>
                      <a:prstDash val="solid"/>
                    </a:lnB>
                    <a:solidFill>
                      <a:srgbClr val="172B40"/>
                    </a:solidFill>
                  </a:tcPr>
                </a:tc>
              </a:tr>
              <a:tr h="678656">
                <a:tc>
                  <a:txBody>
                    <a:bodyPr lIns="142875" tIns="142875" rIns="142875" bIns="142875"/>
                    <a:lstStyle/>
                    <a:p>
                      <a:r>
                        <a:rPr sz="1800" b="0">
                          <a:solidFill>
                            <a:srgbClr val="172B40"/>
                          </a:solidFill>
                          <a:latin typeface="DejaVu Sans"/>
                          <a:ea typeface="DejaVu Sans"/>
                          <a:cs typeface="DejaVu Sans"/>
                        </a:rPr>
                        <a:t>Task performance</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Precision / recall / F1, or regression error</a:t>
                      </a:r>
                    </a:p>
                  </a:txBody>
                  <a:tcPr marL="91440" marR="91440" marT="45720" marB="45720">
                    <a:lnR w="9525">
                      <a:solidFill>
                        <a:srgbClr val="D8E1E7"/>
                      </a:solidFill>
                      <a:prstDash val="solid"/>
                    </a:lnR>
                    <a:lnB w="9525">
                      <a:solidFill>
                        <a:srgbClr val="D8E1E7"/>
                      </a:solidFill>
                      <a:prstDash val="solid"/>
                    </a:lnB>
                    <a:solidFill>
                      <a:srgbClr val="FFFFFF"/>
                    </a:solidFill>
                  </a:tcPr>
                </a:tc>
              </a:tr>
              <a:tr h="678656">
                <a:tc>
                  <a:txBody>
                    <a:bodyPr lIns="142875" tIns="142875" rIns="142875" bIns="142875"/>
                    <a:lstStyle/>
                    <a:p>
                      <a:r>
                        <a:rPr sz="1800" b="0">
                          <a:solidFill>
                            <a:srgbClr val="172B40"/>
                          </a:solidFill>
                          <a:latin typeface="DejaVu Sans"/>
                          <a:ea typeface="DejaVu Sans"/>
                          <a:cs typeface="DejaVu Sans"/>
                        </a:rPr>
                        <a:t>Search and inference cost</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EDF3F5"/>
                    </a:solidFill>
                  </a:tcPr>
                </a:tc>
                <a:tc>
                  <a:txBody>
                    <a:bodyPr lIns="142875" tIns="142875" rIns="142875" bIns="142875"/>
                    <a:lstStyle/>
                    <a:p>
                      <a:r>
                        <a:rPr sz="1800" b="0">
                          <a:solidFill>
                            <a:srgbClr val="172B40"/>
                          </a:solidFill>
                          <a:latin typeface="DejaVu Sans"/>
                          <a:ea typeface="DejaVu Sans"/>
                          <a:cs typeface="DejaVu Sans"/>
                        </a:rPr>
                        <a:t>Check whether gains justify computation</a:t>
                      </a:r>
                    </a:p>
                  </a:txBody>
                  <a:tcPr marL="91440" marR="91440" marT="45720" marB="45720">
                    <a:lnR w="9525">
                      <a:solidFill>
                        <a:srgbClr val="D8E1E7"/>
                      </a:solidFill>
                      <a:prstDash val="solid"/>
                    </a:lnR>
                    <a:lnB w="9525">
                      <a:solidFill>
                        <a:srgbClr val="D8E1E7"/>
                      </a:solidFill>
                      <a:prstDash val="solid"/>
                    </a:lnB>
                    <a:solidFill>
                      <a:srgbClr val="EDF3F5"/>
                    </a:solidFill>
                  </a:tcPr>
                </a:tc>
              </a:tr>
              <a:tr h="678656">
                <a:tc>
                  <a:txBody>
                    <a:bodyPr lIns="142875" tIns="142875" rIns="142875" bIns="142875"/>
                    <a:lstStyle/>
                    <a:p>
                      <a:r>
                        <a:rPr sz="1800" b="0">
                          <a:solidFill>
                            <a:srgbClr val="172B40"/>
                          </a:solidFill>
                          <a:latin typeface="DejaVu Sans"/>
                          <a:ea typeface="DejaVu Sans"/>
                          <a:cs typeface="DejaVu Sans"/>
                        </a:rPr>
                        <a:t>Feature count and stability</a:t>
                      </a:r>
                    </a:p>
                  </a:txBody>
                  <a:tcPr marL="91440" marR="91440" marT="45720" marB="4572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lIns="142875" tIns="142875" rIns="142875" bIns="142875"/>
                    <a:lstStyle/>
                    <a:p>
                      <a:r>
                        <a:rPr sz="1800" b="0">
                          <a:solidFill>
                            <a:srgbClr val="172B40"/>
                          </a:solidFill>
                          <a:latin typeface="DejaVu Sans"/>
                          <a:ea typeface="DejaVu Sans"/>
                          <a:cs typeface="DejaVu Sans"/>
                        </a:rPr>
                        <a:t>Track complexity and variability across runs</a:t>
                      </a:r>
                    </a:p>
                  </a:txBody>
                  <a:tcPr marL="91440" marR="91440" marT="45720" marB="45720">
                    <a:lnR w="9525">
                      <a:solidFill>
                        <a:srgbClr val="D8E1E7"/>
                      </a:solidFill>
                      <a:prstDash val="solid"/>
                    </a:lnR>
                    <a:lnB w="9525">
                      <a:solidFill>
                        <a:srgbClr val="D8E1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A0A121B-527D-439F-A5DC-62D370F0EDEA}"/>
              </a:ext>
            </a:extLst>
          </p:cNvPr>
          <p:cNvSpPr>
            <a:spLocks xmlns:a="http://schemas.openxmlformats.org/drawingml/2006/main" noGrp="1"/>
          </p:cNvSpPr>
          <p:nvPr/>
        </p:nvSpPr>
        <p:spPr>
          <a:xfrm xmlns:a="http://schemas.openxmlformats.org/drawingml/2006/main">
            <a:off x="609600" y="4572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DejaVu Sans"/>
                <a:ea typeface="DejaVu Sans"/>
                <a:cs typeface="DejaVu Sans"/>
              </a:defRPr>
            </a:defPPr>
          </a:lstStyle>
          <a:p xmlns:a="http://schemas.openxmlformats.org/drawingml/2006/main">
            <a:pPr>
              <a:defRPr sz="2250" b="1">
                <a:solidFill>
                  <a:srgbClr val="087F8C"/>
                </a:solidFill>
                <a:latin typeface="DejaVu Sans"/>
                <a:ea typeface="DejaVu Sans"/>
                <a:cs typeface="DejaVu Sans"/>
              </a:defRPr>
            </a:pPr>
            <a:r>
              <a:rPr sz="2250" b="1">
                <a:solidFill>
                  <a:srgbClr val="087F8C"/>
                </a:solidFill>
                <a:latin typeface="DejaVu Sans"/>
                <a:ea typeface="DejaVu Sans"/>
                <a:cs typeface="DejaVu Sans"/>
              </a:rPr>
              <a:t>Ablations</a:t>
            </a:r>
          </a:p>
        </p:txBody>
      </p:sp>
      <p:sp>
        <p:nvSpPr>
          <p:cNvPr id="6" name="">
            <a:extLst xmlns:a="http://schemas.openxmlformats.org/drawingml/2006/main">
              <a:ext uri="{FF2B5EF4-FFF2-40B4-BE49-F238E27FC236}">
                <a16:creationId xmlns:a16="http://schemas.microsoft.com/office/drawing/2014/main" id="{1A0E853A-07A4-4B32-B932-CE4266BA4A89}"/>
              </a:ext>
            </a:extLst>
          </p:cNvPr>
          <p:cNvSpPr>
            <a:spLocks xmlns:a="http://schemas.openxmlformats.org/drawingml/2006/main" noGrp="1"/>
          </p:cNvSpPr>
          <p:nvPr/>
        </p:nvSpPr>
        <p:spPr>
          <a:xfrm xmlns:a="http://schemas.openxmlformats.org/drawingml/2006/main">
            <a:off x="609600" y="5038725"/>
            <a:ext cx="10858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Learned vs. random search at the same budget</a:t>
            </a:r>
          </a:p>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With vs. without a complexity penalty or generative stage</a:t>
            </a:r>
          </a:p>
        </p:txBody>
      </p:sp>
      <p:sp>
        <p:nvSpPr>
          <p:cNvPr id="7" name="">
            <a:extLst xmlns:a="http://schemas.openxmlformats.org/drawingml/2006/main">
              <a:ext uri="{FF2B5EF4-FFF2-40B4-BE49-F238E27FC236}">
                <a16:creationId xmlns:a16="http://schemas.microsoft.com/office/drawing/2014/main" id="{7A84EB73-4AEE-4FE9-91D8-96FB94C76AB9}"/>
              </a:ext>
            </a:extLst>
          </p:cNvPr>
          <p:cNvSpPr>
            <a:spLocks xmlns:a="http://schemas.openxmlformats.org/drawingml/2006/main" noGrp="1"/>
          </p:cNvSpPr>
          <p:nvPr/>
        </p:nvSpPr>
        <p:spPr>
          <a:xfrm xmlns:a="http://schemas.openxmlformats.org/drawingml/2006/main">
            <a:off x="609600" y="59340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087F8C"/>
                </a:solidFill>
                <a:latin typeface="DejaVu Sans"/>
                <a:ea typeface="DejaVu Sans"/>
                <a:cs typeface="DejaVu Sans"/>
              </a:defRPr>
            </a:def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Keep the final test set outside all feature search and tuning.</a:t>
            </a:r>
          </a:p>
        </p:txBody>
      </p:sp>
    </p:spTree>
    <p:extLst>
      <p:ext uri="{BB962C8B-B14F-4D97-AF65-F5344CB8AC3E}">
        <p14:creationId xmlns:p14="http://schemas.microsoft.com/office/powerpoint/2010/main" val="1391891997"/>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8B56CE-D85A-4746-91F8-7E6EE1F2B30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Practical lessons</a:t>
            </a:r>
          </a:p>
        </p:txBody>
      </p:sp>
      <p:sp>
        <p:nvSpPr>
          <p:cNvPr id="2" name="">
            <a:extLst xmlns:a="http://schemas.openxmlformats.org/drawingml/2006/main">
              <a:ext uri="{FF2B5EF4-FFF2-40B4-BE49-F238E27FC236}">
                <a16:creationId xmlns:a16="http://schemas.microsoft.com/office/drawing/2014/main" id="{89FD24EC-4C01-457D-B661-4A526693A030}"/>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EA9FF9F5-E2B1-4732-BA99-D0FF96DE6479}"/>
              </a:ext>
            </a:extLst>
          </p:cNvPr>
          <p:cNvSpPr>
            <a:spLocks xmlns:a="http://schemas.openxmlformats.org/drawingml/2006/main" noGrp="1"/>
          </p:cNvSpPr>
          <p:nvPr/>
        </p:nvSpPr>
        <p:spPr>
          <a:xfrm xmlns:a="http://schemas.openxmlformats.org/drawingml/2006/main">
            <a:off x="609600" y="6353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526575"/>
                </a:solidFill>
                <a:latin typeface="DejaVu Sans"/>
                <a:ea typeface="DejaVu Sans"/>
                <a:cs typeface="DejaVu Sans"/>
              </a:defRPr>
            </a:defPPr>
          </a:lstStyle>
          <a:p xmlns:a="http://schemas.openxmlformats.org/drawingml/2006/main">
            <a:pPr>
              <a:defRPr sz="1125" b="0">
                <a:solidFill>
                  <a:srgbClr val="526575"/>
                </a:solidFill>
                <a:latin typeface="DejaVu Sans"/>
                <a:ea typeface="DejaVu Sans"/>
                <a:cs typeface="DejaVu Sans"/>
              </a:defRPr>
            </a:pPr>
            <a:r>
              <a:rPr sz="1125" b="0">
                <a:solidFill>
                  <a:srgbClr val="526575"/>
                </a:solidFill>
                <a:latin typeface="DejaVu Sans"/>
                <a:ea typeface="DejaVu Sans"/>
                <a:cs typeface="DejaVu Sans"/>
              </a:rPr>
              <a:t>Paper: Sections 6–9, pp. 5–7. Final interpretation is presenter analysis.</a:t>
            </a:r>
          </a:p>
        </p:txBody>
      </p:sp>
      <p:sp>
        <p:nvSpPr>
          <p:cNvPr id="4" name="">
            <a:extLst xmlns:a="http://schemas.openxmlformats.org/drawingml/2006/main">
              <a:ext uri="{FF2B5EF4-FFF2-40B4-BE49-F238E27FC236}">
                <a16:creationId xmlns:a16="http://schemas.microsoft.com/office/drawing/2014/main" id="{9231BC51-91D1-46FD-A098-0319CAAC76B8}"/>
              </a:ext>
            </a:extLst>
          </p:cNvPr>
          <p:cNvSpPr>
            <a:spLocks xmlns:a="http://schemas.openxmlformats.org/drawingml/2006/main" noGrp="1"/>
          </p:cNvSpPr>
          <p:nvPr/>
        </p:nvSpPr>
        <p:spPr>
          <a:xfrm xmlns:a="http://schemas.openxmlformats.org/drawingml/2006/main">
            <a:off x="609600" y="161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A simple baseline sets the standard</a:t>
            </a:r>
          </a:p>
        </p:txBody>
      </p:sp>
      <p:sp>
        <p:nvSpPr>
          <p:cNvPr id="5" name="">
            <a:extLst xmlns:a="http://schemas.openxmlformats.org/drawingml/2006/main">
              <a:ext uri="{FF2B5EF4-FFF2-40B4-BE49-F238E27FC236}">
                <a16:creationId xmlns:a16="http://schemas.microsoft.com/office/drawing/2014/main" id="{E2D554DB-EAF2-4D31-B764-4510B0F5D624}"/>
              </a:ext>
            </a:extLst>
          </p:cNvPr>
          <p:cNvSpPr>
            <a:spLocks xmlns:a="http://schemas.openxmlformats.org/drawingml/2006/main" noGrp="1"/>
          </p:cNvSpPr>
          <p:nvPr/>
        </p:nvSpPr>
        <p:spPr>
          <a:xfrm xmlns:a="http://schemas.openxmlformats.org/drawingml/2006/main">
            <a:off x="609600" y="20764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Advanced search should earn its cost through reproducible gains.</a:t>
            </a:r>
          </a:p>
        </p:txBody>
      </p:sp>
      <p:sp>
        <p:nvSpPr>
          <p:cNvPr id="6" name="">
            <a:extLst xmlns:a="http://schemas.openxmlformats.org/drawingml/2006/main">
              <a:ext uri="{FF2B5EF4-FFF2-40B4-BE49-F238E27FC236}">
                <a16:creationId xmlns:a16="http://schemas.microsoft.com/office/drawing/2014/main" id="{386E5D9B-510B-4A8A-A7AF-BB190BF38AEE}"/>
              </a:ext>
            </a:extLst>
          </p:cNvPr>
          <p:cNvSpPr>
            <a:spLocks xmlns:a="http://schemas.openxmlformats.org/drawingml/2006/main" noGrp="1"/>
          </p:cNvSpPr>
          <p:nvPr/>
        </p:nvSpPr>
        <p:spPr>
          <a:xfrm xmlns:a="http://schemas.openxmlformats.org/drawingml/2006/main">
            <a:off x="609600" y="3095625"/>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Every feature needs a traceable definition</a:t>
            </a:r>
          </a:p>
        </p:txBody>
      </p:sp>
      <p:sp>
        <p:nvSpPr>
          <p:cNvPr id="7" name="">
            <a:extLst xmlns:a="http://schemas.openxmlformats.org/drawingml/2006/main">
              <a:ext uri="{FF2B5EF4-FFF2-40B4-BE49-F238E27FC236}">
                <a16:creationId xmlns:a16="http://schemas.microsoft.com/office/drawing/2014/main" id="{19C674FA-0E42-47FA-9F20-F03B0C6F5239}"/>
              </a:ext>
            </a:extLst>
          </p:cNvPr>
          <p:cNvSpPr>
            <a:spLocks xmlns:a="http://schemas.openxmlformats.org/drawingml/2006/main" noGrp="1"/>
          </p:cNvSpPr>
          <p:nvPr/>
        </p:nvSpPr>
        <p:spPr>
          <a:xfrm xmlns:a="http://schemas.openxmlformats.org/drawingml/2006/main">
            <a:off x="609600" y="3552825"/>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Record source columns, formulas and handling of unusual values.</a:t>
            </a:r>
          </a:p>
        </p:txBody>
      </p:sp>
      <p:sp>
        <p:nvSpPr>
          <p:cNvPr id="8" name="">
            <a:extLst xmlns:a="http://schemas.openxmlformats.org/drawingml/2006/main">
              <a:ext uri="{FF2B5EF4-FFF2-40B4-BE49-F238E27FC236}">
                <a16:creationId xmlns:a16="http://schemas.microsoft.com/office/drawing/2014/main" id="{ECF9F251-4829-47A4-948A-E9A4F6078D47}"/>
              </a:ext>
            </a:extLst>
          </p:cNvPr>
          <p:cNvSpPr>
            <a:spLocks xmlns:a="http://schemas.openxmlformats.org/drawingml/2006/main" noGrp="1"/>
          </p:cNvSpPr>
          <p:nvPr/>
        </p:nvSpPr>
        <p:spPr>
          <a:xfrm xmlns:a="http://schemas.openxmlformats.org/drawingml/2006/main">
            <a:off x="609600" y="4572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DejaVu Sans"/>
                <a:ea typeface="DejaVu Sans"/>
                <a:cs typeface="DejaVu Sans"/>
              </a:defRPr>
            </a:def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Automated proposals still need judgment</a:t>
            </a:r>
          </a:p>
        </p:txBody>
      </p:sp>
      <p:sp>
        <p:nvSpPr>
          <p:cNvPr id="9" name="">
            <a:extLst xmlns:a="http://schemas.openxmlformats.org/drawingml/2006/main">
              <a:ext uri="{FF2B5EF4-FFF2-40B4-BE49-F238E27FC236}">
                <a16:creationId xmlns:a16="http://schemas.microsoft.com/office/drawing/2014/main" id="{1A51B030-7925-4DEB-A3C9-90E0110D19B2}"/>
              </a:ext>
            </a:extLst>
          </p:cNvPr>
          <p:cNvSpPr>
            <a:spLocks xmlns:a="http://schemas.openxmlformats.org/drawingml/2006/main" noGrp="1"/>
          </p:cNvSpPr>
          <p:nvPr/>
        </p:nvSpPr>
        <p:spPr>
          <a:xfrm xmlns:a="http://schemas.openxmlformats.org/drawingml/2006/main">
            <a:off x="609600" y="50292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Check meaning, availability at prediction time and generalization.</a:t>
            </a:r>
          </a:p>
        </p:txBody>
      </p:sp>
    </p:spTree>
    <p:extLst>
      <p:ext uri="{BB962C8B-B14F-4D97-AF65-F5344CB8AC3E}">
        <p14:creationId xmlns:p14="http://schemas.microsoft.com/office/powerpoint/2010/main" val="2021517223"/>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5F71F4-5CFF-4564-97CD-83102DC019C5}"/>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172B40"/>
                </a:solidFill>
                <a:latin typeface="DejaVu Sans"/>
                <a:ea typeface="DejaVu Sans"/>
                <a:cs typeface="DejaVu Sans"/>
              </a:defRPr>
            </a:defPPr>
          </a:lstStyle>
          <a:p xmlns:a="http://schemas.openxmlformats.org/drawingml/2006/main">
            <a:pPr>
              <a:defRPr sz="3300" b="1">
                <a:solidFill>
                  <a:srgbClr val="172B40"/>
                </a:solidFill>
                <a:latin typeface="DejaVu Sans"/>
                <a:ea typeface="DejaVu Sans"/>
                <a:cs typeface="DejaVu Sans"/>
              </a:defRPr>
            </a:pPr>
            <a:r>
              <a:rPr sz="3300" b="1">
                <a:solidFill>
                  <a:srgbClr val="172B40"/>
                </a:solidFill>
                <a:latin typeface="DejaVu Sans"/>
                <a:ea typeface="DejaVu Sans"/>
                <a:cs typeface="DejaVu Sans"/>
              </a:rPr>
              <a:t>References</a:t>
            </a:r>
          </a:p>
        </p:txBody>
      </p:sp>
      <p:sp>
        <p:nvSpPr>
          <p:cNvPr id="2" name="">
            <a:extLst xmlns:a="http://schemas.openxmlformats.org/drawingml/2006/main">
              <a:ext uri="{FF2B5EF4-FFF2-40B4-BE49-F238E27FC236}">
                <a16:creationId xmlns:a16="http://schemas.microsoft.com/office/drawing/2014/main" id="{C28D2765-E335-4EB7-B3B8-6CB599A9F9C0}"/>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5"/>
                </a:solidFill>
                <a:latin typeface="DejaVu Sans"/>
                <a:ea typeface="DejaVu Sans"/>
                <a:cs typeface="DejaVu Sans"/>
              </a:defRPr>
            </a:defPPr>
          </a:lstStyle>
          <a:p xmlns:a="http://schemas.openxmlformats.org/drawingml/2006/main">
            <a:pPr>
              <a:defRPr sz="1200" b="0">
                <a:solidFill>
                  <a:srgbClr val="526575"/>
                </a:solidFill>
                <a:latin typeface="DejaVu Sans"/>
                <a:ea typeface="DejaVu Sans"/>
                <a:cs typeface="DejaVu Sans"/>
              </a:defRPr>
            </a:pPr>
            <a:r>
              <a:rPr sz="1200" b="0">
                <a:solidFill>
                  <a:srgbClr val="526575"/>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1C6CAF51-EBF8-452D-B5F7-8F7EE7EBB221}"/>
              </a:ext>
            </a:extLst>
          </p:cNvPr>
          <p:cNvSpPr>
            <a:spLocks xmlns:a="http://schemas.openxmlformats.org/drawingml/2006/main" noGrp="1"/>
          </p:cNvSpPr>
          <p:nvPr/>
        </p:nvSpPr>
        <p:spPr>
          <a:xfrm xmlns:a="http://schemas.openxmlformats.org/drawingml/2006/main">
            <a:off x="609600" y="16002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87F8C"/>
                </a:solidFill>
                <a:latin typeface="DejaVu Sans"/>
                <a:ea typeface="DejaVu Sans"/>
                <a:cs typeface="DejaVu Sans"/>
              </a:defRPr>
            </a:defPPr>
          </a:lstStyle>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Main survey</a:t>
            </a:r>
          </a:p>
        </p:txBody>
      </p:sp>
      <p:sp>
        <p:nvSpPr>
          <p:cNvPr id="4" name="">
            <a:extLst xmlns:a="http://schemas.openxmlformats.org/drawingml/2006/main">
              <a:ext uri="{FF2B5EF4-FFF2-40B4-BE49-F238E27FC236}">
                <a16:creationId xmlns:a16="http://schemas.microsoft.com/office/drawing/2014/main" id="{37E5694C-0DE5-4F2B-8551-84CC96BA58EF}"/>
              </a:ext>
            </a:extLst>
          </p:cNvPr>
          <p:cNvSpPr>
            <a:spLocks xmlns:a="http://schemas.openxmlformats.org/drawingml/2006/main" noGrp="1"/>
          </p:cNvSpPr>
          <p:nvPr/>
        </p:nvSpPr>
        <p:spPr>
          <a:xfrm xmlns:a="http://schemas.openxmlformats.org/drawingml/2006/main">
            <a:off x="609600" y="2095500"/>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72B40"/>
                </a:solidFill>
                <a:latin typeface="DejaVu Sans"/>
                <a:ea typeface="DejaVu Sans"/>
                <a:cs typeface="DejaVu Sans"/>
              </a:defRPr>
            </a:defPPr>
          </a:lstStyle>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Ying et al. (2025)</a:t>
            </a:r>
          </a:p>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A Survey on Data-Centric AI: Tabular Learning from</a:t>
            </a:r>
          </a:p>
          <a:p xmlns:a="http://schemas.openxmlformats.org/drawingml/2006/main">
            <a:pPr>
              <a:defRPr sz="2025" b="0">
                <a:solidFill>
                  <a:srgbClr val="172B40"/>
                </a:solidFill>
                <a:latin typeface="DejaVu Sans"/>
                <a:ea typeface="DejaVu Sans"/>
                <a:cs typeface="DejaVu Sans"/>
              </a:defRPr>
            </a:pPr>
            <a:r>
              <a:rPr sz="2025" b="0">
                <a:solidFill>
                  <a:srgbClr val="172B40"/>
                </a:solidFill>
                <a:latin typeface="DejaVu Sans"/>
                <a:ea typeface="DejaVu Sans"/>
                <a:cs typeface="DejaVu Sans"/>
              </a:rPr>
              <a:t>Reinforcement Learning and Generative AI Perspective</a:t>
            </a:r>
          </a:p>
        </p:txBody>
      </p:sp>
      <p:sp>
        <p:nvSpPr>
          <p:cNvPr id="5" name="">
            <a:extLst xmlns:a="http://schemas.openxmlformats.org/drawingml/2006/main">
              <a:ext uri="{FF2B5EF4-FFF2-40B4-BE49-F238E27FC236}">
                <a16:creationId xmlns:a16="http://schemas.microsoft.com/office/drawing/2014/main" id="{9A5E8F1E-DE4B-4E4F-A62E-90B545482D78}"/>
              </a:ext>
            </a:extLst>
          </p:cNvPr>
          <p:cNvSpPr>
            <a:spLocks xmlns:a="http://schemas.openxmlformats.org/drawingml/2006/main" noGrp="1"/>
          </p:cNvSpPr>
          <p:nvPr/>
        </p:nvSpPr>
        <p:spPr>
          <a:xfrm xmlns:a="http://schemas.openxmlformats.org/drawingml/2006/main">
            <a:off x="609600" y="32766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F8C"/>
                </a:solidFill>
                <a:latin typeface="DejaVu Sans"/>
                <a:ea typeface="DejaVu Sans"/>
                <a:cs typeface="DejaVu Sans"/>
              </a:defRPr>
            </a:defPPr>
          </a:lstStyle>
          <a:p xmlns:a="http://schemas.openxmlformats.org/drawingml/2006/main">
            <a:pPr>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rPr>
              <a:t>https://arxiv.org/abs/2502.08828v2</a:t>
            </a:r>
          </a:p>
        </p:txBody>
      </p:sp>
      <p:sp>
        <p:nvSpPr>
          <p:cNvPr id="6" name="">
            <a:extLst xmlns:a="http://schemas.openxmlformats.org/drawingml/2006/main">
              <a:ext uri="{FF2B5EF4-FFF2-40B4-BE49-F238E27FC236}">
                <a16:creationId xmlns:a16="http://schemas.microsoft.com/office/drawing/2014/main" id="{003B9FFE-BC38-46BC-B2B0-AB87A6C8E777}"/>
              </a:ext>
            </a:extLst>
          </p:cNvPr>
          <p:cNvSpPr>
            <a:spLocks xmlns:a="http://schemas.openxmlformats.org/drawingml/2006/main" noGrp="1"/>
          </p:cNvSpPr>
          <p:nvPr/>
        </p:nvSpPr>
        <p:spPr>
          <a:xfrm xmlns:a="http://schemas.openxmlformats.org/drawingml/2006/main">
            <a:off x="609600" y="39052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87F8C"/>
                </a:solidFill>
                <a:latin typeface="DejaVu Sans"/>
                <a:ea typeface="DejaVu Sans"/>
                <a:cs typeface="DejaVu Sans"/>
              </a:defRPr>
            </a:defPPr>
          </a:lstStyle>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Supporting survey</a:t>
            </a:r>
          </a:p>
        </p:txBody>
      </p:sp>
      <p:sp>
        <p:nvSpPr>
          <p:cNvPr id="7" name="">
            <a:extLst xmlns:a="http://schemas.openxmlformats.org/drawingml/2006/main">
              <a:ext uri="{FF2B5EF4-FFF2-40B4-BE49-F238E27FC236}">
                <a16:creationId xmlns:a16="http://schemas.microsoft.com/office/drawing/2014/main" id="{3C1A3C79-958D-4B98-A088-7F1BF42405F1}"/>
              </a:ext>
            </a:extLst>
          </p:cNvPr>
          <p:cNvSpPr>
            <a:spLocks xmlns:a="http://schemas.openxmlformats.org/drawingml/2006/main" noGrp="1"/>
          </p:cNvSpPr>
          <p:nvPr/>
        </p:nvSpPr>
        <p:spPr>
          <a:xfrm xmlns:a="http://schemas.openxmlformats.org/drawingml/2006/main">
            <a:off x="609600" y="4381500"/>
            <a:ext cx="10858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2B40"/>
                </a:solidFill>
                <a:latin typeface="DejaVu Sans"/>
                <a:ea typeface="DejaVu Sans"/>
                <a:cs typeface="DejaVu Sans"/>
              </a:defRPr>
            </a:defPPr>
          </a:lstStyle>
          <a:p xmlns:a="http://schemas.openxmlformats.org/drawingml/2006/main">
            <a:pPr>
              <a:defRPr sz="1875" b="0">
                <a:solidFill>
                  <a:srgbClr val="172B40"/>
                </a:solidFill>
                <a:latin typeface="DejaVu Sans"/>
                <a:ea typeface="DejaVu Sans"/>
                <a:cs typeface="DejaVu Sans"/>
              </a:defRPr>
            </a:pPr>
            <a:r>
              <a:rPr sz="1875" b="0">
                <a:solidFill>
                  <a:srgbClr val="172B40"/>
                </a:solidFill>
                <a:latin typeface="DejaVu Sans"/>
                <a:ea typeface="DejaVu Sans"/>
                <a:cs typeface="DejaVu Sans"/>
              </a:rPr>
              <a:t>Wang et al. (2025)</a:t>
            </a:r>
          </a:p>
          <a:p xmlns:a="http://schemas.openxmlformats.org/drawingml/2006/main">
            <a:pPr>
              <a:defRPr sz="1875" b="0">
                <a:solidFill>
                  <a:srgbClr val="172B40"/>
                </a:solidFill>
                <a:latin typeface="DejaVu Sans"/>
                <a:ea typeface="DejaVu Sans"/>
                <a:cs typeface="DejaVu Sans"/>
              </a:defRPr>
            </a:pPr>
            <a:r>
              <a:rPr sz="1875" b="0">
                <a:solidFill>
                  <a:srgbClr val="172B40"/>
                </a:solidFill>
                <a:latin typeface="DejaVu Sans"/>
                <a:ea typeface="DejaVu Sans"/>
                <a:cs typeface="DejaVu Sans"/>
              </a:rPr>
              <a:t>Towards Data-Centric AI: A Comprehensive Survey of Traditional,</a:t>
            </a:r>
          </a:p>
          <a:p xmlns:a="http://schemas.openxmlformats.org/drawingml/2006/main">
            <a:pPr>
              <a:defRPr sz="1875" b="0">
                <a:solidFill>
                  <a:srgbClr val="172B40"/>
                </a:solidFill>
                <a:latin typeface="DejaVu Sans"/>
                <a:ea typeface="DejaVu Sans"/>
                <a:cs typeface="DejaVu Sans"/>
              </a:defRPr>
            </a:pPr>
            <a:r>
              <a:rPr sz="1875" b="0">
                <a:solidFill>
                  <a:srgbClr val="172B40"/>
                </a:solidFill>
                <a:latin typeface="DejaVu Sans"/>
                <a:ea typeface="DejaVu Sans"/>
                <a:cs typeface="DejaVu Sans"/>
              </a:rPr>
              <a:t>Reinforcement, and Generative Approaches for Tabular Data Transformation</a:t>
            </a:r>
          </a:p>
        </p:txBody>
      </p:sp>
      <p:sp>
        <p:nvSpPr>
          <p:cNvPr id="8" name="">
            <a:extLst xmlns:a="http://schemas.openxmlformats.org/drawingml/2006/main">
              <a:ext uri="{FF2B5EF4-FFF2-40B4-BE49-F238E27FC236}">
                <a16:creationId xmlns:a16="http://schemas.microsoft.com/office/drawing/2014/main" id="{899FD83D-A7B0-4FB8-BF5B-C02F77954F3C}"/>
              </a:ext>
            </a:extLst>
          </p:cNvPr>
          <p:cNvSpPr>
            <a:spLocks xmlns:a="http://schemas.openxmlformats.org/drawingml/2006/main" noGrp="1"/>
          </p:cNvSpPr>
          <p:nvPr/>
        </p:nvSpPr>
        <p:spPr>
          <a:xfrm xmlns:a="http://schemas.openxmlformats.org/drawingml/2006/main">
            <a:off x="6096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F8C"/>
                </a:solidFill>
                <a:latin typeface="DejaVu Sans"/>
                <a:ea typeface="DejaVu Sans"/>
                <a:cs typeface="DejaVu Sans"/>
              </a:defRPr>
            </a:defPPr>
          </a:lstStyle>
          <a:p xmlns:a="http://schemas.openxmlformats.org/drawingml/2006/main">
            <a:pPr>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rPr>
              <a:t>https://arxiv.org/abs/2501.10555</a:t>
            </a:r>
          </a:p>
        </p:txBody>
      </p:sp>
      <p:sp>
        <p:nvSpPr>
          <p:cNvPr id="9" name="">
            <a:extLst xmlns:a="http://schemas.openxmlformats.org/drawingml/2006/main">
              <a:ext uri="{FF2B5EF4-FFF2-40B4-BE49-F238E27FC236}">
                <a16:creationId xmlns:a16="http://schemas.microsoft.com/office/drawing/2014/main" id="{6554F388-F065-4447-B868-8E1298CEB433}"/>
              </a:ext>
            </a:extLst>
          </p:cNvPr>
          <p:cNvSpPr>
            <a:spLocks xmlns:a="http://schemas.openxmlformats.org/drawingml/2006/main" noGrp="1"/>
          </p:cNvSpPr>
          <p:nvPr/>
        </p:nvSpPr>
        <p:spPr>
          <a:xfrm xmlns:a="http://schemas.openxmlformats.org/drawingml/2006/main">
            <a:off x="609600" y="6191250"/>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26575"/>
                </a:solidFill>
                <a:latin typeface="DejaVu Sans"/>
                <a:ea typeface="DejaVu Sans"/>
                <a:cs typeface="DejaVu Sans"/>
              </a:defRPr>
            </a:defPPr>
          </a:lstStyle>
          <a:p xmlns:a="http://schemas.openxmlformats.org/drawingml/2006/main">
            <a:pPr>
              <a:defRPr sz="1275" b="0">
                <a:solidFill>
                  <a:srgbClr val="526575"/>
                </a:solidFill>
                <a:latin typeface="DejaVu Sans"/>
                <a:ea typeface="DejaVu Sans"/>
                <a:cs typeface="DejaVu Sans"/>
              </a:defRPr>
            </a:pPr>
            <a:r>
              <a:rPr sz="1275" b="0">
                <a:solidFill>
                  <a:srgbClr val="526575"/>
                </a:solidFill>
                <a:latin typeface="DejaVu Sans"/>
                <a:ea typeface="DejaVu Sans"/>
                <a:cs typeface="DejaVu Sans"/>
              </a:rPr>
              <a:t>Figures: Ying et al., CC BY 4.0. Overlapping authorship between the surveys.</a:t>
            </a:r>
          </a:p>
        </p:txBody>
      </p:sp>
    </p:spTree>
    <p:extLst>
      <p:ext uri="{BB962C8B-B14F-4D97-AF65-F5344CB8AC3E}">
        <p14:creationId xmlns:p14="http://schemas.microsoft.com/office/powerpoint/2010/main" val="1571778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2026-10-14T22:51:59.6700000Z</dcterms:created>
  <dcterms:modified xsi:type="dcterms:W3CDTF">2026-10-14T22:51:59.6700000Z</dcterms:modified>
</coreProperties>
</file>